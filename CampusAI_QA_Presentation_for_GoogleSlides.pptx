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_rels/presentation.xml.rels" ContentType="application/vnd.openxmlformats-package.relationship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slides/_rels/slide9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MasterSlide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MasterSlide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31a4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"/>
          <p:cNvSpPr/>
          <p:nvPr/>
        </p:nvSpPr>
        <p:spPr>
          <a:xfrm>
            <a:off x="0" y="0"/>
            <a:ext cx="12189240" cy="6858360"/>
          </a:xfrm>
          <a:custGeom>
            <a:avLst/>
            <a:gdLst/>
            <a:ahLst/>
            <a:rect l="0" t="0" r="r" b="b"/>
            <a:pathLst>
              <a:path w="33859" h="19051">
                <a:moveTo>
                  <a:pt x="0" y="0"/>
                </a:moveTo>
                <a:lnTo>
                  <a:pt x="33859" y="0"/>
                </a:lnTo>
                <a:lnTo>
                  <a:pt x="33859" y="19051"/>
                </a:lnTo>
                <a:lnTo>
                  <a:pt x="0" y="19051"/>
                </a:lnTo>
                <a:lnTo>
                  <a:pt x="0" y="0"/>
                </a:lnTo>
                <a:close/>
              </a:path>
            </a:pathLst>
          </a:custGeom>
          <a:solidFill>
            <a:srgbClr val="131a46"/>
          </a:solidFill>
          <a:ln w="0">
            <a:noFill/>
          </a:ln>
        </p:spPr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" name=""/>
          <p:cNvSpPr/>
          <p:nvPr/>
        </p:nvSpPr>
        <p:spPr>
          <a:xfrm>
            <a:off x="9418320" y="-1645920"/>
            <a:ext cx="4572000" cy="4572000"/>
          </a:xfrm>
          <a:custGeom>
            <a:avLst/>
            <a:gdLst/>
            <a:ahLst/>
            <a:rect l="0" t="0" r="r" b="b"/>
            <a:pathLst>
              <a:path w="12700" h="12700">
                <a:moveTo>
                  <a:pt x="10841" y="1858"/>
                </a:moveTo>
                <a:cubicBezTo>
                  <a:pt x="13320" y="4338"/>
                  <a:pt x="13320" y="8361"/>
                  <a:pt x="10841" y="10841"/>
                </a:cubicBezTo>
                <a:cubicBezTo>
                  <a:pt x="8361" y="13320"/>
                  <a:pt x="4339" y="13320"/>
                  <a:pt x="1859" y="10841"/>
                </a:cubicBezTo>
                <a:cubicBezTo>
                  <a:pt x="-619" y="8361"/>
                  <a:pt x="-619" y="4338"/>
                  <a:pt x="1859" y="1858"/>
                </a:cubicBezTo>
                <a:cubicBezTo>
                  <a:pt x="4339" y="-620"/>
                  <a:pt x="8361" y="-620"/>
                  <a:pt x="10841" y="1858"/>
                </a:cubicBezTo>
                <a:close/>
              </a:path>
            </a:pathLst>
          </a:custGeom>
          <a:solidFill>
            <a:srgbClr val="1d2660">
              <a:alpha val="70000"/>
            </a:srgbClr>
          </a:solidFill>
          <a:ln w="0">
            <a:noFill/>
          </a:ln>
        </p:spPr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" name=""/>
          <p:cNvSpPr/>
          <p:nvPr/>
        </p:nvSpPr>
        <p:spPr>
          <a:xfrm>
            <a:off x="-1371600" y="4389120"/>
            <a:ext cx="3657600" cy="3657960"/>
          </a:xfrm>
          <a:custGeom>
            <a:avLst/>
            <a:gdLst/>
            <a:ahLst/>
            <a:rect l="0" t="0" r="r" b="b"/>
            <a:pathLst>
              <a:path w="10160" h="10161">
                <a:moveTo>
                  <a:pt x="8673" y="1487"/>
                </a:moveTo>
                <a:cubicBezTo>
                  <a:pt x="10656" y="3472"/>
                  <a:pt x="10656" y="6689"/>
                  <a:pt x="8673" y="8674"/>
                </a:cubicBezTo>
                <a:cubicBezTo>
                  <a:pt x="6689" y="10657"/>
                  <a:pt x="3470" y="10657"/>
                  <a:pt x="1486" y="8674"/>
                </a:cubicBezTo>
                <a:cubicBezTo>
                  <a:pt x="-496" y="6689"/>
                  <a:pt x="-496" y="3472"/>
                  <a:pt x="1486" y="1487"/>
                </a:cubicBezTo>
                <a:cubicBezTo>
                  <a:pt x="3470" y="-495"/>
                  <a:pt x="6689" y="-495"/>
                  <a:pt x="8673" y="1487"/>
                </a:cubicBezTo>
                <a:close/>
              </a:path>
            </a:pathLst>
          </a:custGeom>
          <a:solidFill>
            <a:srgbClr val="018090">
              <a:alpha val="35000"/>
            </a:srgbClr>
          </a:solidFill>
          <a:ln w="0">
            <a:noFill/>
          </a:ln>
        </p:spPr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" name=""/>
          <p:cNvSpPr txBox="1"/>
          <p:nvPr/>
        </p:nvSpPr>
        <p:spPr>
          <a:xfrm>
            <a:off x="822960" y="1965960"/>
            <a:ext cx="8229600" cy="3657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1400" spc="-1" strike="noStrike">
                <a:solidFill>
                  <a:srgbClr val="01c39a"/>
                </a:solidFill>
                <a:latin typeface="Calibri-Bold"/>
                <a:ea typeface="Calibri-Bold"/>
              </a:rPr>
              <a:t>QUALITY ASSURANCE &amp; PRESENTATION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" name=""/>
          <p:cNvSpPr txBox="1"/>
          <p:nvPr/>
        </p:nvSpPr>
        <p:spPr>
          <a:xfrm>
            <a:off x="822960" y="2331720"/>
            <a:ext cx="9601200" cy="1188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4800" spc="-1" strike="noStrike">
                <a:solidFill>
                  <a:srgbClr val="ffffff"/>
                </a:solidFill>
                <a:latin typeface="Cambria"/>
                <a:ea typeface="Cambria"/>
              </a:rPr>
              <a:t>CampusAI Test Plan</a:t>
            </a:r>
            <a:endParaRPr b="0" lang="en-US" sz="4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" name=""/>
          <p:cNvSpPr txBox="1"/>
          <p:nvPr/>
        </p:nvSpPr>
        <p:spPr>
          <a:xfrm>
            <a:off x="822960" y="3429000"/>
            <a:ext cx="8686800" cy="5486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800" spc="-1" strike="noStrike">
                <a:solidFill>
                  <a:srgbClr val="cadcfc"/>
                </a:solidFill>
                <a:latin typeface="Calibri"/>
                <a:ea typeface="Calibri"/>
              </a:rPr>
              <a:t>Ensuring CampusAI's AI receptionist is accurate, reliable, and demo-ready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" name=""/>
          <p:cNvSpPr/>
          <p:nvPr/>
        </p:nvSpPr>
        <p:spPr>
          <a:xfrm>
            <a:off x="822960" y="4206240"/>
            <a:ext cx="1097280" cy="0"/>
          </a:xfrm>
          <a:prstGeom prst="line">
            <a:avLst/>
          </a:prstGeom>
          <a:ln w="38160">
            <a:solidFill>
              <a:srgbClr val="01c39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9080" rIns="109080" tIns="-64080" bIns="-6408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" name=""/>
          <p:cNvSpPr txBox="1"/>
          <p:nvPr/>
        </p:nvSpPr>
        <p:spPr>
          <a:xfrm>
            <a:off x="822960" y="4480560"/>
            <a:ext cx="7315200" cy="1188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>
              <a:lnSpc>
                <a:spcPts val="2401"/>
              </a:lnSpc>
            </a:pPr>
            <a:r>
              <a:rPr b="1" lang="en-US" sz="1600" spc="-1" strike="noStrike">
                <a:solidFill>
                  <a:srgbClr val="ffffff"/>
                </a:solidFill>
                <a:latin typeface="Calibri-Bold"/>
                <a:ea typeface="Calibri-Bold"/>
              </a:rPr>
              <a:t>Na</a:t>
            </a:r>
            <a:r>
              <a:rPr b="1" lang="en-US" sz="1600" spc="-1" strike="noStrike">
                <a:solidFill>
                  <a:srgbClr val="ffffff"/>
                </a:solidFill>
                <a:latin typeface="Calibri-Bold"/>
                <a:ea typeface="Calibri-Bold"/>
              </a:rPr>
              <a:t>h</a:t>
            </a:r>
            <a:r>
              <a:rPr b="1" lang="en-US" sz="1600" spc="-1" strike="noStrike">
                <a:solidFill>
                  <a:srgbClr val="ffffff"/>
                </a:solidFill>
                <a:latin typeface="Calibri-Bold"/>
                <a:ea typeface="Calibri-Bold"/>
              </a:rPr>
              <a:t>irobi</a:t>
            </a:r>
            <a:r>
              <a:rPr b="1" lang="en-US" sz="1600" spc="-1" strike="noStrike">
                <a:solidFill>
                  <a:srgbClr val="ffffff"/>
                </a:solidFill>
                <a:latin typeface="Calibri-Bold"/>
                <a:ea typeface="Calibri-Bold"/>
              </a:rPr>
              <a:t>es</a:t>
            </a:r>
            <a:r>
              <a:rPr b="0" lang="en-US" sz="1600" spc="-1" strike="noStrike">
                <a:solidFill>
                  <a:srgbClr val="cadcfc"/>
                </a:solidFill>
                <a:latin typeface="Calibri"/>
                <a:ea typeface="Calibri"/>
              </a:rPr>
              <a:t> —  QA &amp; Presentation Lead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ts val="2401"/>
              </a:lnSpc>
            </a:pPr>
            <a:r>
              <a:rPr b="0" lang="en-US" sz="1300" spc="-1" strike="noStrike">
                <a:solidFill>
                  <a:srgbClr val="8fa0c0"/>
                </a:solidFill>
                <a:latin typeface="Calibri"/>
                <a:ea typeface="Calibri"/>
              </a:rPr>
              <a:t>Software Engineering Fundamentals · Centennial College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ts val="2401"/>
              </a:lnSpc>
            </a:pPr>
            <a:r>
              <a:rPr b="0" lang="en-US" sz="1300" spc="-1" strike="noStrike">
                <a:solidFill>
                  <a:srgbClr val="8fa0c0"/>
                </a:solidFill>
                <a:latin typeface="Calibri"/>
                <a:ea typeface="Calibri"/>
              </a:rPr>
              <a:t>July 29, 2026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"/>
          <p:cNvSpPr txBox="1"/>
          <p:nvPr/>
        </p:nvSpPr>
        <p:spPr>
          <a:xfrm>
            <a:off x="548640" y="411480"/>
            <a:ext cx="7315200" cy="5486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3000" spc="-1" strike="noStrike">
                <a:solidFill>
                  <a:srgbClr val="1d2660"/>
                </a:solidFill>
                <a:latin typeface="Cambria"/>
                <a:ea typeface="Cambria"/>
              </a:rPr>
              <a:t>Project Recap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" name=""/>
          <p:cNvSpPr txBox="1"/>
          <p:nvPr/>
        </p:nvSpPr>
        <p:spPr>
          <a:xfrm>
            <a:off x="548640" y="960120"/>
            <a:ext cx="10515600" cy="3657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500" spc="-1" strike="noStrike">
                <a:solidFill>
                  <a:srgbClr val="6a7586"/>
                </a:solidFill>
                <a:latin typeface="Calibri"/>
                <a:ea typeface="Calibri"/>
              </a:rPr>
              <a:t>CampusAI is an AI-powered virtual receptionist for Centennial College students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" name=""/>
          <p:cNvSpPr/>
          <p:nvPr/>
        </p:nvSpPr>
        <p:spPr>
          <a:xfrm>
            <a:off x="548640" y="1691640"/>
            <a:ext cx="3429360" cy="1692000"/>
          </a:xfrm>
          <a:custGeom>
            <a:avLst/>
            <a:gdLst/>
            <a:ahLst/>
            <a:rect l="0" t="0" r="r" b="b"/>
            <a:pathLst>
              <a:path w="9526" h="4700">
                <a:moveTo>
                  <a:pt x="9322" y="0"/>
                </a:moveTo>
                <a:cubicBezTo>
                  <a:pt x="9458" y="0"/>
                  <a:pt x="9526" y="68"/>
                  <a:pt x="9526" y="203"/>
                </a:cubicBezTo>
                <a:lnTo>
                  <a:pt x="9526" y="4497"/>
                </a:lnTo>
                <a:cubicBezTo>
                  <a:pt x="9526" y="4632"/>
                  <a:pt x="9458" y="4700"/>
                  <a:pt x="9322" y="4700"/>
                </a:cubicBezTo>
                <a:lnTo>
                  <a:pt x="203" y="4700"/>
                </a:lnTo>
                <a:cubicBezTo>
                  <a:pt x="68" y="4700"/>
                  <a:pt x="0" y="4632"/>
                  <a:pt x="0" y="4497"/>
                </a:cubicBezTo>
                <a:lnTo>
                  <a:pt x="0" y="203"/>
                </a:lnTo>
                <a:cubicBezTo>
                  <a:pt x="0" y="68"/>
                  <a:pt x="68" y="0"/>
                  <a:pt x="203" y="0"/>
                </a:cubicBezTo>
                <a:lnTo>
                  <a:pt x="9322" y="0"/>
                </a:lnTo>
                <a:close/>
              </a:path>
            </a:pathLst>
          </a:custGeom>
          <a:solidFill>
            <a:srgbClr val="ffffff"/>
          </a:solidFill>
          <a:ln w="12600">
            <a:solidFill>
              <a:srgbClr val="e3e8f0"/>
            </a:solidFill>
            <a:round/>
          </a:ln>
        </p:spPr>
        <p:txBody>
          <a:bodyPr lIns="96120" rIns="96120" tIns="51120" bIns="5112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" name=""/>
          <p:cNvSpPr/>
          <p:nvPr/>
        </p:nvSpPr>
        <p:spPr>
          <a:xfrm>
            <a:off x="777240" y="1920240"/>
            <a:ext cx="457560" cy="457560"/>
          </a:xfrm>
          <a:custGeom>
            <a:avLst/>
            <a:gdLst/>
            <a:ahLst/>
            <a:rect l="0" t="0" r="r" b="b"/>
            <a:pathLst>
              <a:path w="1271" h="1271">
                <a:moveTo>
                  <a:pt x="1086" y="185"/>
                </a:moveTo>
                <a:cubicBezTo>
                  <a:pt x="1333" y="434"/>
                  <a:pt x="1333" y="837"/>
                  <a:pt x="1086" y="1086"/>
                </a:cubicBezTo>
                <a:cubicBezTo>
                  <a:pt x="837" y="1333"/>
                  <a:pt x="434" y="1333"/>
                  <a:pt x="185" y="1086"/>
                </a:cubicBezTo>
                <a:cubicBezTo>
                  <a:pt x="-61" y="837"/>
                  <a:pt x="-61" y="434"/>
                  <a:pt x="185" y="185"/>
                </a:cubicBezTo>
                <a:cubicBezTo>
                  <a:pt x="434" y="-61"/>
                  <a:pt x="837" y="-61"/>
                  <a:pt x="1086" y="185"/>
                </a:cubicBezTo>
                <a:close/>
              </a:path>
            </a:pathLst>
          </a:custGeom>
          <a:solidFill>
            <a:srgbClr val="018090"/>
          </a:solidFill>
          <a:ln w="0">
            <a:noFill/>
          </a:ln>
        </p:spPr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" name=""/>
          <p:cNvSpPr txBox="1"/>
          <p:nvPr/>
        </p:nvSpPr>
        <p:spPr>
          <a:xfrm>
            <a:off x="777240" y="1920240"/>
            <a:ext cx="45720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ctr"/>
            <a:r>
              <a:rPr b="1" lang="en-US" sz="1400" spc="-1" strike="noStrike">
                <a:solidFill>
                  <a:srgbClr val="ffffff"/>
                </a:solidFill>
                <a:latin typeface="Calibri-Bold"/>
                <a:ea typeface="Calibri-Bold"/>
              </a:rPr>
              <a:t>1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" name=""/>
          <p:cNvSpPr txBox="1"/>
          <p:nvPr/>
        </p:nvSpPr>
        <p:spPr>
          <a:xfrm>
            <a:off x="777240" y="2514600"/>
            <a:ext cx="2971800" cy="320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1400" spc="-1" strike="noStrike">
                <a:solidFill>
                  <a:srgbClr val="212b3c"/>
                </a:solidFill>
                <a:latin typeface="Calibri-Bold"/>
                <a:ea typeface="Calibri-Bold"/>
              </a:rPr>
              <a:t>Chat Interface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" name=""/>
          <p:cNvSpPr txBox="1"/>
          <p:nvPr/>
        </p:nvSpPr>
        <p:spPr>
          <a:xfrm>
            <a:off x="777240" y="2834640"/>
            <a:ext cx="297180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100" spc="-1" strike="noStrike">
                <a:solidFill>
                  <a:srgbClr val="6a7586"/>
                </a:solidFill>
                <a:latin typeface="Calibri"/>
                <a:ea typeface="Calibri"/>
              </a:rPr>
              <a:t>Conversational Q&amp;A with students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" name=""/>
          <p:cNvSpPr/>
          <p:nvPr/>
        </p:nvSpPr>
        <p:spPr>
          <a:xfrm>
            <a:off x="4206240" y="1691640"/>
            <a:ext cx="3429360" cy="1692000"/>
          </a:xfrm>
          <a:custGeom>
            <a:avLst/>
            <a:gdLst/>
            <a:ahLst/>
            <a:rect l="0" t="0" r="r" b="b"/>
            <a:pathLst>
              <a:path w="9526" h="4700">
                <a:moveTo>
                  <a:pt x="9322" y="0"/>
                </a:moveTo>
                <a:cubicBezTo>
                  <a:pt x="9458" y="0"/>
                  <a:pt x="9526" y="68"/>
                  <a:pt x="9526" y="203"/>
                </a:cubicBezTo>
                <a:lnTo>
                  <a:pt x="9526" y="4497"/>
                </a:lnTo>
                <a:cubicBezTo>
                  <a:pt x="9526" y="4632"/>
                  <a:pt x="9458" y="4700"/>
                  <a:pt x="9322" y="4700"/>
                </a:cubicBezTo>
                <a:lnTo>
                  <a:pt x="203" y="4700"/>
                </a:lnTo>
                <a:cubicBezTo>
                  <a:pt x="68" y="4700"/>
                  <a:pt x="0" y="4632"/>
                  <a:pt x="0" y="4497"/>
                </a:cubicBezTo>
                <a:lnTo>
                  <a:pt x="0" y="203"/>
                </a:lnTo>
                <a:cubicBezTo>
                  <a:pt x="0" y="68"/>
                  <a:pt x="68" y="0"/>
                  <a:pt x="203" y="0"/>
                </a:cubicBezTo>
                <a:lnTo>
                  <a:pt x="9322" y="0"/>
                </a:lnTo>
                <a:close/>
              </a:path>
            </a:pathLst>
          </a:custGeom>
          <a:solidFill>
            <a:srgbClr val="ffffff"/>
          </a:solidFill>
          <a:ln w="12600">
            <a:solidFill>
              <a:srgbClr val="e3e8f0"/>
            </a:solidFill>
            <a:round/>
          </a:ln>
        </p:spPr>
        <p:txBody>
          <a:bodyPr lIns="96120" rIns="96120" tIns="51120" bIns="5112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" name=""/>
          <p:cNvSpPr/>
          <p:nvPr/>
        </p:nvSpPr>
        <p:spPr>
          <a:xfrm>
            <a:off x="4434840" y="1920240"/>
            <a:ext cx="457200" cy="457560"/>
          </a:xfrm>
          <a:custGeom>
            <a:avLst/>
            <a:gdLst/>
            <a:ahLst/>
            <a:rect l="0" t="0" r="r" b="b"/>
            <a:pathLst>
              <a:path w="1270" h="1271">
                <a:moveTo>
                  <a:pt x="1085" y="185"/>
                </a:moveTo>
                <a:cubicBezTo>
                  <a:pt x="1332" y="434"/>
                  <a:pt x="1332" y="837"/>
                  <a:pt x="1085" y="1086"/>
                </a:cubicBezTo>
                <a:cubicBezTo>
                  <a:pt x="837" y="1333"/>
                  <a:pt x="433" y="1333"/>
                  <a:pt x="185" y="1086"/>
                </a:cubicBezTo>
                <a:cubicBezTo>
                  <a:pt x="-61" y="837"/>
                  <a:pt x="-61" y="434"/>
                  <a:pt x="185" y="185"/>
                </a:cubicBezTo>
                <a:cubicBezTo>
                  <a:pt x="433" y="-61"/>
                  <a:pt x="837" y="-61"/>
                  <a:pt x="1085" y="185"/>
                </a:cubicBezTo>
                <a:close/>
              </a:path>
            </a:pathLst>
          </a:custGeom>
          <a:solidFill>
            <a:srgbClr val="1d2660"/>
          </a:solidFill>
          <a:ln w="0">
            <a:noFill/>
          </a:ln>
        </p:spPr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" name=""/>
          <p:cNvSpPr txBox="1"/>
          <p:nvPr/>
        </p:nvSpPr>
        <p:spPr>
          <a:xfrm>
            <a:off x="4434840" y="1920240"/>
            <a:ext cx="45720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ctr"/>
            <a:r>
              <a:rPr b="1" lang="en-US" sz="1400" spc="-1" strike="noStrike">
                <a:solidFill>
                  <a:srgbClr val="ffffff"/>
                </a:solidFill>
                <a:latin typeface="Calibri-Bold"/>
                <a:ea typeface="Calibri-Bold"/>
              </a:rPr>
              <a:t>2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" name=""/>
          <p:cNvSpPr txBox="1"/>
          <p:nvPr/>
        </p:nvSpPr>
        <p:spPr>
          <a:xfrm>
            <a:off x="4434840" y="2514600"/>
            <a:ext cx="2971800" cy="320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1400" spc="-1" strike="noStrike">
                <a:solidFill>
                  <a:srgbClr val="212b3c"/>
                </a:solidFill>
                <a:latin typeface="Calibri-Bold"/>
                <a:ea typeface="Calibri-Bold"/>
              </a:rPr>
              <a:t>RAG Answers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"/>
          <p:cNvSpPr txBox="1"/>
          <p:nvPr/>
        </p:nvSpPr>
        <p:spPr>
          <a:xfrm>
            <a:off x="4434840" y="2834640"/>
            <a:ext cx="297180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100" spc="-1" strike="noStrike">
                <a:solidFill>
                  <a:srgbClr val="6a7586"/>
                </a:solidFill>
                <a:latin typeface="Calibri"/>
                <a:ea typeface="Calibri"/>
              </a:rPr>
              <a:t>Responses grounded in official college info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"/>
          <p:cNvSpPr/>
          <p:nvPr/>
        </p:nvSpPr>
        <p:spPr>
          <a:xfrm>
            <a:off x="7863840" y="1691640"/>
            <a:ext cx="3429360" cy="1692000"/>
          </a:xfrm>
          <a:custGeom>
            <a:avLst/>
            <a:gdLst/>
            <a:ahLst/>
            <a:rect l="0" t="0" r="r" b="b"/>
            <a:pathLst>
              <a:path w="9526" h="4700">
                <a:moveTo>
                  <a:pt x="9322" y="0"/>
                </a:moveTo>
                <a:cubicBezTo>
                  <a:pt x="9458" y="0"/>
                  <a:pt x="9526" y="68"/>
                  <a:pt x="9526" y="203"/>
                </a:cubicBezTo>
                <a:lnTo>
                  <a:pt x="9526" y="4497"/>
                </a:lnTo>
                <a:cubicBezTo>
                  <a:pt x="9526" y="4632"/>
                  <a:pt x="9458" y="4700"/>
                  <a:pt x="9322" y="4700"/>
                </a:cubicBezTo>
                <a:lnTo>
                  <a:pt x="203" y="4700"/>
                </a:lnTo>
                <a:cubicBezTo>
                  <a:pt x="68" y="4700"/>
                  <a:pt x="0" y="4632"/>
                  <a:pt x="0" y="4497"/>
                </a:cubicBezTo>
                <a:lnTo>
                  <a:pt x="0" y="203"/>
                </a:lnTo>
                <a:cubicBezTo>
                  <a:pt x="0" y="68"/>
                  <a:pt x="68" y="0"/>
                  <a:pt x="203" y="0"/>
                </a:cubicBezTo>
                <a:lnTo>
                  <a:pt x="9322" y="0"/>
                </a:lnTo>
                <a:close/>
              </a:path>
            </a:pathLst>
          </a:custGeom>
          <a:solidFill>
            <a:srgbClr val="ffffff"/>
          </a:solidFill>
          <a:ln w="12600">
            <a:solidFill>
              <a:srgbClr val="e3e8f0"/>
            </a:solidFill>
            <a:round/>
          </a:ln>
        </p:spPr>
        <p:txBody>
          <a:bodyPr lIns="96120" rIns="96120" tIns="51120" bIns="5112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"/>
          <p:cNvSpPr/>
          <p:nvPr/>
        </p:nvSpPr>
        <p:spPr>
          <a:xfrm>
            <a:off x="8092440" y="1920240"/>
            <a:ext cx="457200" cy="457560"/>
          </a:xfrm>
          <a:custGeom>
            <a:avLst/>
            <a:gdLst/>
            <a:ahLst/>
            <a:rect l="0" t="0" r="r" b="b"/>
            <a:pathLst>
              <a:path w="1270" h="1271">
                <a:moveTo>
                  <a:pt x="1085" y="185"/>
                </a:moveTo>
                <a:cubicBezTo>
                  <a:pt x="1332" y="434"/>
                  <a:pt x="1332" y="837"/>
                  <a:pt x="1085" y="1086"/>
                </a:cubicBezTo>
                <a:cubicBezTo>
                  <a:pt x="837" y="1333"/>
                  <a:pt x="433" y="1333"/>
                  <a:pt x="185" y="1086"/>
                </a:cubicBezTo>
                <a:cubicBezTo>
                  <a:pt x="-61" y="837"/>
                  <a:pt x="-61" y="434"/>
                  <a:pt x="185" y="185"/>
                </a:cubicBezTo>
                <a:cubicBezTo>
                  <a:pt x="433" y="-61"/>
                  <a:pt x="837" y="-61"/>
                  <a:pt x="1085" y="185"/>
                </a:cubicBezTo>
                <a:close/>
              </a:path>
            </a:pathLst>
          </a:custGeom>
          <a:solidFill>
            <a:srgbClr val="018090"/>
          </a:solidFill>
          <a:ln w="0">
            <a:noFill/>
          </a:ln>
        </p:spPr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" name=""/>
          <p:cNvSpPr txBox="1"/>
          <p:nvPr/>
        </p:nvSpPr>
        <p:spPr>
          <a:xfrm>
            <a:off x="8092440" y="1920240"/>
            <a:ext cx="45720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ctr"/>
            <a:r>
              <a:rPr b="1" lang="en-US" sz="1400" spc="-1" strike="noStrike">
                <a:solidFill>
                  <a:srgbClr val="ffffff"/>
                </a:solidFill>
                <a:latin typeface="Calibri-Bold"/>
                <a:ea typeface="Calibri-Bold"/>
              </a:rPr>
              <a:t>3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" name=""/>
          <p:cNvSpPr txBox="1"/>
          <p:nvPr/>
        </p:nvSpPr>
        <p:spPr>
          <a:xfrm>
            <a:off x="8092440" y="2514600"/>
            <a:ext cx="2971800" cy="320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1400" spc="-1" strike="noStrike">
                <a:solidFill>
                  <a:srgbClr val="212b3c"/>
                </a:solidFill>
                <a:latin typeface="Calibri-Bold"/>
                <a:ea typeface="Calibri-Bold"/>
              </a:rPr>
              <a:t>Source Citations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" name=""/>
          <p:cNvSpPr txBox="1"/>
          <p:nvPr/>
        </p:nvSpPr>
        <p:spPr>
          <a:xfrm>
            <a:off x="8092440" y="2834640"/>
            <a:ext cx="297180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100" spc="-1" strike="noStrike">
                <a:solidFill>
                  <a:srgbClr val="6a7586"/>
                </a:solidFill>
                <a:latin typeface="Calibri"/>
                <a:ea typeface="Calibri"/>
              </a:rPr>
              <a:t>Shows where each answer comes from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" name=""/>
          <p:cNvSpPr/>
          <p:nvPr/>
        </p:nvSpPr>
        <p:spPr>
          <a:xfrm>
            <a:off x="548640" y="3657600"/>
            <a:ext cx="3429360" cy="1692000"/>
          </a:xfrm>
          <a:custGeom>
            <a:avLst/>
            <a:gdLst/>
            <a:ahLst/>
            <a:rect l="0" t="0" r="r" b="b"/>
            <a:pathLst>
              <a:path w="9526" h="4700">
                <a:moveTo>
                  <a:pt x="9322" y="0"/>
                </a:moveTo>
                <a:cubicBezTo>
                  <a:pt x="9458" y="0"/>
                  <a:pt x="9526" y="68"/>
                  <a:pt x="9526" y="203"/>
                </a:cubicBezTo>
                <a:lnTo>
                  <a:pt x="9526" y="4497"/>
                </a:lnTo>
                <a:cubicBezTo>
                  <a:pt x="9526" y="4632"/>
                  <a:pt x="9458" y="4700"/>
                  <a:pt x="9322" y="4700"/>
                </a:cubicBezTo>
                <a:lnTo>
                  <a:pt x="203" y="4700"/>
                </a:lnTo>
                <a:cubicBezTo>
                  <a:pt x="68" y="4700"/>
                  <a:pt x="0" y="4632"/>
                  <a:pt x="0" y="4497"/>
                </a:cubicBezTo>
                <a:lnTo>
                  <a:pt x="0" y="203"/>
                </a:lnTo>
                <a:cubicBezTo>
                  <a:pt x="0" y="68"/>
                  <a:pt x="68" y="0"/>
                  <a:pt x="203" y="0"/>
                </a:cubicBezTo>
                <a:lnTo>
                  <a:pt x="9322" y="0"/>
                </a:lnTo>
                <a:close/>
              </a:path>
            </a:pathLst>
          </a:custGeom>
          <a:solidFill>
            <a:srgbClr val="ffffff"/>
          </a:solidFill>
          <a:ln w="12600">
            <a:solidFill>
              <a:srgbClr val="e3e8f0"/>
            </a:solidFill>
            <a:round/>
          </a:ln>
        </p:spPr>
        <p:txBody>
          <a:bodyPr lIns="96120" rIns="96120" tIns="51120" bIns="5112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"/>
          <p:cNvSpPr/>
          <p:nvPr/>
        </p:nvSpPr>
        <p:spPr>
          <a:xfrm>
            <a:off x="777240" y="3886200"/>
            <a:ext cx="457560" cy="457560"/>
          </a:xfrm>
          <a:custGeom>
            <a:avLst/>
            <a:gdLst/>
            <a:ahLst/>
            <a:rect l="0" t="0" r="r" b="b"/>
            <a:pathLst>
              <a:path w="1271" h="1271">
                <a:moveTo>
                  <a:pt x="1086" y="185"/>
                </a:moveTo>
                <a:cubicBezTo>
                  <a:pt x="1333" y="434"/>
                  <a:pt x="1333" y="837"/>
                  <a:pt x="1086" y="1086"/>
                </a:cubicBezTo>
                <a:cubicBezTo>
                  <a:pt x="837" y="1333"/>
                  <a:pt x="434" y="1333"/>
                  <a:pt x="185" y="1086"/>
                </a:cubicBezTo>
                <a:cubicBezTo>
                  <a:pt x="-61" y="837"/>
                  <a:pt x="-61" y="434"/>
                  <a:pt x="185" y="185"/>
                </a:cubicBezTo>
                <a:cubicBezTo>
                  <a:pt x="434" y="-61"/>
                  <a:pt x="837" y="-61"/>
                  <a:pt x="1086" y="185"/>
                </a:cubicBezTo>
                <a:close/>
              </a:path>
            </a:pathLst>
          </a:custGeom>
          <a:solidFill>
            <a:srgbClr val="1d2660"/>
          </a:solidFill>
          <a:ln w="0">
            <a:noFill/>
          </a:ln>
        </p:spPr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" name=""/>
          <p:cNvSpPr txBox="1"/>
          <p:nvPr/>
        </p:nvSpPr>
        <p:spPr>
          <a:xfrm>
            <a:off x="777240" y="3886200"/>
            <a:ext cx="45720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ctr"/>
            <a:r>
              <a:rPr b="1" lang="en-US" sz="1400" spc="-1" strike="noStrike">
                <a:solidFill>
                  <a:srgbClr val="ffffff"/>
                </a:solidFill>
                <a:latin typeface="Calibri-Bold"/>
                <a:ea typeface="Calibri-Bold"/>
              </a:rPr>
              <a:t>4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" name=""/>
          <p:cNvSpPr txBox="1"/>
          <p:nvPr/>
        </p:nvSpPr>
        <p:spPr>
          <a:xfrm>
            <a:off x="777240" y="4480560"/>
            <a:ext cx="2971800" cy="320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1400" spc="-1" strike="noStrike">
                <a:solidFill>
                  <a:srgbClr val="212b3c"/>
                </a:solidFill>
                <a:latin typeface="Calibri-Bold"/>
                <a:ea typeface="Calibri-Bold"/>
              </a:rPr>
              <a:t>Talking Avatar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" name=""/>
          <p:cNvSpPr txBox="1"/>
          <p:nvPr/>
        </p:nvSpPr>
        <p:spPr>
          <a:xfrm>
            <a:off x="777240" y="4800600"/>
            <a:ext cx="297180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100" spc="-1" strike="noStrike">
                <a:solidFill>
                  <a:srgbClr val="6a7586"/>
                </a:solidFill>
                <a:latin typeface="Calibri"/>
                <a:ea typeface="Calibri"/>
              </a:rPr>
              <a:t>Visual avatar delivers responses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"/>
          <p:cNvSpPr/>
          <p:nvPr/>
        </p:nvSpPr>
        <p:spPr>
          <a:xfrm>
            <a:off x="4206240" y="3657600"/>
            <a:ext cx="3429360" cy="1692000"/>
          </a:xfrm>
          <a:custGeom>
            <a:avLst/>
            <a:gdLst/>
            <a:ahLst/>
            <a:rect l="0" t="0" r="r" b="b"/>
            <a:pathLst>
              <a:path w="9526" h="4700">
                <a:moveTo>
                  <a:pt x="9322" y="0"/>
                </a:moveTo>
                <a:cubicBezTo>
                  <a:pt x="9458" y="0"/>
                  <a:pt x="9526" y="68"/>
                  <a:pt x="9526" y="203"/>
                </a:cubicBezTo>
                <a:lnTo>
                  <a:pt x="9526" y="4497"/>
                </a:lnTo>
                <a:cubicBezTo>
                  <a:pt x="9526" y="4632"/>
                  <a:pt x="9458" y="4700"/>
                  <a:pt x="9322" y="4700"/>
                </a:cubicBezTo>
                <a:lnTo>
                  <a:pt x="203" y="4700"/>
                </a:lnTo>
                <a:cubicBezTo>
                  <a:pt x="68" y="4700"/>
                  <a:pt x="0" y="4632"/>
                  <a:pt x="0" y="4497"/>
                </a:cubicBezTo>
                <a:lnTo>
                  <a:pt x="0" y="203"/>
                </a:lnTo>
                <a:cubicBezTo>
                  <a:pt x="0" y="68"/>
                  <a:pt x="68" y="0"/>
                  <a:pt x="203" y="0"/>
                </a:cubicBezTo>
                <a:lnTo>
                  <a:pt x="9322" y="0"/>
                </a:lnTo>
                <a:close/>
              </a:path>
            </a:pathLst>
          </a:custGeom>
          <a:solidFill>
            <a:srgbClr val="ffffff"/>
          </a:solidFill>
          <a:ln w="12600">
            <a:solidFill>
              <a:srgbClr val="e3e8f0"/>
            </a:solidFill>
            <a:round/>
          </a:ln>
        </p:spPr>
        <p:txBody>
          <a:bodyPr lIns="96120" rIns="96120" tIns="51120" bIns="5112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"/>
          <p:cNvSpPr/>
          <p:nvPr/>
        </p:nvSpPr>
        <p:spPr>
          <a:xfrm>
            <a:off x="4434840" y="3886200"/>
            <a:ext cx="457200" cy="457560"/>
          </a:xfrm>
          <a:custGeom>
            <a:avLst/>
            <a:gdLst/>
            <a:ahLst/>
            <a:rect l="0" t="0" r="r" b="b"/>
            <a:pathLst>
              <a:path w="1270" h="1271">
                <a:moveTo>
                  <a:pt x="1085" y="185"/>
                </a:moveTo>
                <a:cubicBezTo>
                  <a:pt x="1332" y="434"/>
                  <a:pt x="1332" y="837"/>
                  <a:pt x="1085" y="1086"/>
                </a:cubicBezTo>
                <a:cubicBezTo>
                  <a:pt x="837" y="1333"/>
                  <a:pt x="433" y="1333"/>
                  <a:pt x="185" y="1086"/>
                </a:cubicBezTo>
                <a:cubicBezTo>
                  <a:pt x="-61" y="837"/>
                  <a:pt x="-61" y="434"/>
                  <a:pt x="185" y="185"/>
                </a:cubicBezTo>
                <a:cubicBezTo>
                  <a:pt x="433" y="-61"/>
                  <a:pt x="837" y="-61"/>
                  <a:pt x="1085" y="185"/>
                </a:cubicBezTo>
                <a:close/>
              </a:path>
            </a:pathLst>
          </a:custGeom>
          <a:solidFill>
            <a:srgbClr val="018090"/>
          </a:solidFill>
          <a:ln w="0">
            <a:noFill/>
          </a:ln>
        </p:spPr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" name=""/>
          <p:cNvSpPr txBox="1"/>
          <p:nvPr/>
        </p:nvSpPr>
        <p:spPr>
          <a:xfrm>
            <a:off x="4434840" y="3886200"/>
            <a:ext cx="45720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ctr"/>
            <a:r>
              <a:rPr b="1" lang="en-US" sz="1400" spc="-1" strike="noStrike">
                <a:solidFill>
                  <a:srgbClr val="ffffff"/>
                </a:solidFill>
                <a:latin typeface="Calibri-Bold"/>
                <a:ea typeface="Calibri-Bold"/>
              </a:rPr>
              <a:t>5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" name=""/>
          <p:cNvSpPr txBox="1"/>
          <p:nvPr/>
        </p:nvSpPr>
        <p:spPr>
          <a:xfrm>
            <a:off x="4434840" y="4480560"/>
            <a:ext cx="2971800" cy="320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1400" spc="-1" strike="noStrike">
                <a:solidFill>
                  <a:srgbClr val="212b3c"/>
                </a:solidFill>
                <a:latin typeface="Calibri-Bold"/>
                <a:ea typeface="Calibri-Bold"/>
              </a:rPr>
              <a:t>Text-to-Speech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"/>
          <p:cNvSpPr txBox="1"/>
          <p:nvPr/>
        </p:nvSpPr>
        <p:spPr>
          <a:xfrm>
            <a:off x="4434840" y="4800600"/>
            <a:ext cx="297180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100" spc="-1" strike="noStrike">
                <a:solidFill>
                  <a:srgbClr val="6a7586"/>
                </a:solidFill>
                <a:latin typeface="Calibri"/>
                <a:ea typeface="Calibri"/>
              </a:rPr>
              <a:t>Audio playback of answers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" name=""/>
          <p:cNvSpPr/>
          <p:nvPr/>
        </p:nvSpPr>
        <p:spPr>
          <a:xfrm>
            <a:off x="7863840" y="3657600"/>
            <a:ext cx="3429360" cy="1692000"/>
          </a:xfrm>
          <a:custGeom>
            <a:avLst/>
            <a:gdLst/>
            <a:ahLst/>
            <a:rect l="0" t="0" r="r" b="b"/>
            <a:pathLst>
              <a:path w="9526" h="4700">
                <a:moveTo>
                  <a:pt x="9322" y="0"/>
                </a:moveTo>
                <a:cubicBezTo>
                  <a:pt x="9458" y="0"/>
                  <a:pt x="9526" y="68"/>
                  <a:pt x="9526" y="203"/>
                </a:cubicBezTo>
                <a:lnTo>
                  <a:pt x="9526" y="4497"/>
                </a:lnTo>
                <a:cubicBezTo>
                  <a:pt x="9526" y="4632"/>
                  <a:pt x="9458" y="4700"/>
                  <a:pt x="9322" y="4700"/>
                </a:cubicBezTo>
                <a:lnTo>
                  <a:pt x="203" y="4700"/>
                </a:lnTo>
                <a:cubicBezTo>
                  <a:pt x="68" y="4700"/>
                  <a:pt x="0" y="4632"/>
                  <a:pt x="0" y="4497"/>
                </a:cubicBezTo>
                <a:lnTo>
                  <a:pt x="0" y="203"/>
                </a:lnTo>
                <a:cubicBezTo>
                  <a:pt x="0" y="68"/>
                  <a:pt x="68" y="0"/>
                  <a:pt x="203" y="0"/>
                </a:cubicBezTo>
                <a:lnTo>
                  <a:pt x="9322" y="0"/>
                </a:lnTo>
                <a:close/>
              </a:path>
            </a:pathLst>
          </a:custGeom>
          <a:solidFill>
            <a:srgbClr val="ffffff"/>
          </a:solidFill>
          <a:ln w="12600">
            <a:solidFill>
              <a:srgbClr val="e3e8f0"/>
            </a:solidFill>
            <a:round/>
          </a:ln>
        </p:spPr>
        <p:txBody>
          <a:bodyPr lIns="96120" rIns="96120" tIns="51120" bIns="5112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" name=""/>
          <p:cNvSpPr/>
          <p:nvPr/>
        </p:nvSpPr>
        <p:spPr>
          <a:xfrm>
            <a:off x="8092440" y="3886200"/>
            <a:ext cx="457200" cy="457560"/>
          </a:xfrm>
          <a:custGeom>
            <a:avLst/>
            <a:gdLst/>
            <a:ahLst/>
            <a:rect l="0" t="0" r="r" b="b"/>
            <a:pathLst>
              <a:path w="1270" h="1271">
                <a:moveTo>
                  <a:pt x="1085" y="185"/>
                </a:moveTo>
                <a:cubicBezTo>
                  <a:pt x="1332" y="434"/>
                  <a:pt x="1332" y="837"/>
                  <a:pt x="1085" y="1086"/>
                </a:cubicBezTo>
                <a:cubicBezTo>
                  <a:pt x="837" y="1333"/>
                  <a:pt x="433" y="1333"/>
                  <a:pt x="185" y="1086"/>
                </a:cubicBezTo>
                <a:cubicBezTo>
                  <a:pt x="-61" y="837"/>
                  <a:pt x="-61" y="434"/>
                  <a:pt x="185" y="185"/>
                </a:cubicBezTo>
                <a:cubicBezTo>
                  <a:pt x="433" y="-61"/>
                  <a:pt x="837" y="-61"/>
                  <a:pt x="1085" y="185"/>
                </a:cubicBezTo>
                <a:close/>
              </a:path>
            </a:pathLst>
          </a:custGeom>
          <a:solidFill>
            <a:srgbClr val="1d2660"/>
          </a:solidFill>
          <a:ln w="0">
            <a:noFill/>
          </a:ln>
        </p:spPr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" name=""/>
          <p:cNvSpPr txBox="1"/>
          <p:nvPr/>
        </p:nvSpPr>
        <p:spPr>
          <a:xfrm>
            <a:off x="8092440" y="3886200"/>
            <a:ext cx="45720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ctr"/>
            <a:r>
              <a:rPr b="1" lang="en-US" sz="1400" spc="-1" strike="noStrike">
                <a:solidFill>
                  <a:srgbClr val="ffffff"/>
                </a:solidFill>
                <a:latin typeface="Calibri-Bold"/>
                <a:ea typeface="Calibri-Bold"/>
              </a:rPr>
              <a:t>6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" name=""/>
          <p:cNvSpPr txBox="1"/>
          <p:nvPr/>
        </p:nvSpPr>
        <p:spPr>
          <a:xfrm>
            <a:off x="8092440" y="4480560"/>
            <a:ext cx="2971800" cy="320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1400" spc="-1" strike="noStrike">
                <a:solidFill>
                  <a:srgbClr val="212b3c"/>
                </a:solidFill>
                <a:latin typeface="Calibri-Bold"/>
                <a:ea typeface="Calibri-Bold"/>
              </a:rPr>
              <a:t>Dept. Recommendations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" name=""/>
          <p:cNvSpPr txBox="1"/>
          <p:nvPr/>
        </p:nvSpPr>
        <p:spPr>
          <a:xfrm>
            <a:off x="8092440" y="4800600"/>
            <a:ext cx="297180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100" spc="-1" strike="noStrike">
                <a:solidFill>
                  <a:srgbClr val="6a7586"/>
                </a:solidFill>
                <a:latin typeface="Calibri"/>
                <a:ea typeface="Calibri"/>
              </a:rPr>
              <a:t>Points students to the right office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" name=""/>
          <p:cNvSpPr txBox="1"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000" spc="-1" strike="noStrike">
                <a:solidFill>
                  <a:srgbClr val="6a7586"/>
                </a:solidFill>
                <a:latin typeface="Calibri"/>
                <a:ea typeface="Calibri"/>
              </a:rPr>
              <a:t>CampusAI — QA &amp; Testing Plan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" name=""/>
          <p:cNvSpPr txBox="1"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r"/>
            <a:r>
              <a:rPr b="0" lang="en-US" sz="1000" spc="-1" strike="noStrike">
                <a:solidFill>
                  <a:srgbClr val="6a7586"/>
                </a:solidFill>
                <a:latin typeface="Calibri"/>
                <a:ea typeface="Calibri"/>
              </a:rPr>
              <a:t>2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 txBox="1"/>
          <p:nvPr/>
        </p:nvSpPr>
        <p:spPr>
          <a:xfrm>
            <a:off x="548640" y="411480"/>
            <a:ext cx="9144000" cy="5486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2800" spc="-1" strike="noStrike">
                <a:solidFill>
                  <a:srgbClr val="1d2660"/>
                </a:solidFill>
                <a:latin typeface="Cambria"/>
                <a:ea typeface="Cambria"/>
              </a:rPr>
              <a:t>QA &amp; Presentation Lead — My Role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" name=""/>
          <p:cNvSpPr/>
          <p:nvPr/>
        </p:nvSpPr>
        <p:spPr>
          <a:xfrm>
            <a:off x="548640" y="1234440"/>
            <a:ext cx="5121000" cy="4938120"/>
          </a:xfrm>
          <a:custGeom>
            <a:avLst/>
            <a:gdLst/>
            <a:ahLst/>
            <a:rect l="0" t="0" r="r" b="b"/>
            <a:pathLst>
              <a:path w="14225" h="13717">
                <a:moveTo>
                  <a:pt x="14021" y="0"/>
                </a:moveTo>
                <a:cubicBezTo>
                  <a:pt x="14157" y="0"/>
                  <a:pt x="14225" y="68"/>
                  <a:pt x="14225" y="203"/>
                </a:cubicBezTo>
                <a:lnTo>
                  <a:pt x="14225" y="13514"/>
                </a:lnTo>
                <a:cubicBezTo>
                  <a:pt x="14225" y="13649"/>
                  <a:pt x="14157" y="13717"/>
                  <a:pt x="14021" y="13717"/>
                </a:cubicBezTo>
                <a:lnTo>
                  <a:pt x="203" y="13717"/>
                </a:lnTo>
                <a:cubicBezTo>
                  <a:pt x="68" y="13717"/>
                  <a:pt x="0" y="13649"/>
                  <a:pt x="0" y="13514"/>
                </a:cubicBezTo>
                <a:lnTo>
                  <a:pt x="0" y="203"/>
                </a:lnTo>
                <a:cubicBezTo>
                  <a:pt x="0" y="68"/>
                  <a:pt x="68" y="0"/>
                  <a:pt x="203" y="0"/>
                </a:cubicBezTo>
                <a:lnTo>
                  <a:pt x="14021" y="0"/>
                </a:lnTo>
                <a:close/>
              </a:path>
            </a:pathLst>
          </a:custGeom>
          <a:solidFill>
            <a:srgbClr val="1d2660"/>
          </a:solidFill>
          <a:ln w="0">
            <a:noFill/>
          </a:ln>
        </p:spPr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" name=""/>
          <p:cNvSpPr txBox="1"/>
          <p:nvPr/>
        </p:nvSpPr>
        <p:spPr>
          <a:xfrm>
            <a:off x="914400" y="1508760"/>
            <a:ext cx="4389120" cy="3657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1600" spc="-1" strike="noStrike">
                <a:solidFill>
                  <a:srgbClr val="01c39a"/>
                </a:solidFill>
                <a:latin typeface="Calibri-Bold"/>
                <a:ea typeface="Calibri-Bold"/>
              </a:rPr>
              <a:t>What QA covers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" name=""/>
          <p:cNvSpPr txBox="1"/>
          <p:nvPr/>
        </p:nvSpPr>
        <p:spPr>
          <a:xfrm>
            <a:off x="914400" y="1965960"/>
            <a:ext cx="4389120" cy="3931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191520" indent="-191520">
              <a:lnSpc>
                <a:spcPct val="135000"/>
              </a:lnSpc>
              <a:spcAft>
                <a:spcPts val="1001"/>
              </a:spcAft>
              <a:buClr>
                <a:srgbClr val="000000"/>
              </a:buClr>
              <a:buSzPct val="45000"/>
              <a:buFont typeface=""/>
              <a:buChar char=""/>
            </a:pPr>
            <a:r>
              <a:rPr b="0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Write &amp; maintain the test plan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marL="191520" indent="-191520">
              <a:lnSpc>
                <a:spcPct val="135000"/>
              </a:lnSpc>
              <a:spcAft>
                <a:spcPts val="1001"/>
              </a:spcAft>
              <a:buClr>
                <a:srgbClr val="000000"/>
              </a:buClr>
              <a:buSzPct val="45000"/>
              <a:buFont typeface=""/>
              <a:buChar char=""/>
            </a:pPr>
            <a:r>
              <a:rPr b="0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Design test cases per feature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marL="191520" indent="-191520">
              <a:lnSpc>
                <a:spcPct val="135000"/>
              </a:lnSpc>
              <a:spcAft>
                <a:spcPts val="1001"/>
              </a:spcAft>
              <a:buClr>
                <a:srgbClr val="000000"/>
              </a:buClr>
              <a:buSzPct val="45000"/>
              <a:buFont typeface=""/>
              <a:buChar char=""/>
            </a:pPr>
            <a:r>
              <a:rPr b="0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Run manual + API testing each milestone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marL="191520" indent="-191520">
              <a:lnSpc>
                <a:spcPct val="135000"/>
              </a:lnSpc>
              <a:spcAft>
                <a:spcPts val="1001"/>
              </a:spcAft>
              <a:buClr>
                <a:srgbClr val="000000"/>
              </a:buClr>
              <a:buSzPct val="45000"/>
              <a:buFont typeface=""/>
              <a:buChar char=""/>
            </a:pPr>
            <a:r>
              <a:rPr b="0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Log &amp; track defects in GitHub Issues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marL="191520" indent="-191520">
              <a:lnSpc>
                <a:spcPct val="135000"/>
              </a:lnSpc>
              <a:spcAft>
                <a:spcPts val="1001"/>
              </a:spcAft>
              <a:buClr>
                <a:srgbClr val="000000"/>
              </a:buClr>
              <a:buSzPct val="45000"/>
              <a:buFont typeface=""/>
              <a:buChar char=""/>
            </a:pPr>
            <a:r>
              <a:rPr b="0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Verify RAG accuracy and citations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marL="191520" indent="-191520">
              <a:lnSpc>
                <a:spcPct val="135000"/>
              </a:lnSpc>
              <a:spcAft>
                <a:spcPts val="1001"/>
              </a:spcAft>
              <a:buClr>
                <a:srgbClr val="000000"/>
              </a:buClr>
              <a:buSzPct val="45000"/>
              <a:buFont typeface=""/>
              <a:buChar char=""/>
            </a:pPr>
            <a:r>
              <a:rPr b="0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Sign off before each demo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" name=""/>
          <p:cNvSpPr/>
          <p:nvPr/>
        </p:nvSpPr>
        <p:spPr>
          <a:xfrm>
            <a:off x="5943600" y="1234440"/>
            <a:ext cx="5715360" cy="4938120"/>
          </a:xfrm>
          <a:custGeom>
            <a:avLst/>
            <a:gdLst/>
            <a:ahLst/>
            <a:rect l="0" t="0" r="r" b="b"/>
            <a:pathLst>
              <a:path w="15876" h="13717">
                <a:moveTo>
                  <a:pt x="15672" y="0"/>
                </a:moveTo>
                <a:cubicBezTo>
                  <a:pt x="15808" y="0"/>
                  <a:pt x="15876" y="68"/>
                  <a:pt x="15876" y="203"/>
                </a:cubicBezTo>
                <a:lnTo>
                  <a:pt x="15876" y="13514"/>
                </a:lnTo>
                <a:cubicBezTo>
                  <a:pt x="15876" y="13649"/>
                  <a:pt x="15808" y="13717"/>
                  <a:pt x="15672" y="13717"/>
                </a:cubicBezTo>
                <a:lnTo>
                  <a:pt x="203" y="13717"/>
                </a:lnTo>
                <a:cubicBezTo>
                  <a:pt x="68" y="13717"/>
                  <a:pt x="0" y="13649"/>
                  <a:pt x="0" y="13514"/>
                </a:cubicBezTo>
                <a:lnTo>
                  <a:pt x="0" y="203"/>
                </a:lnTo>
                <a:cubicBezTo>
                  <a:pt x="0" y="68"/>
                  <a:pt x="68" y="0"/>
                  <a:pt x="203" y="0"/>
                </a:cubicBezTo>
                <a:lnTo>
                  <a:pt x="15672" y="0"/>
                </a:lnTo>
                <a:close/>
              </a:path>
            </a:pathLst>
          </a:custGeom>
          <a:solidFill>
            <a:srgbClr val="ffffff"/>
          </a:solidFill>
          <a:ln w="12600">
            <a:solidFill>
              <a:srgbClr val="e3e8f0"/>
            </a:solidFill>
            <a:round/>
          </a:ln>
        </p:spPr>
        <p:txBody>
          <a:bodyPr lIns="96120" rIns="96120" tIns="51120" bIns="5112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" name=""/>
          <p:cNvSpPr txBox="1"/>
          <p:nvPr/>
        </p:nvSpPr>
        <p:spPr>
          <a:xfrm>
            <a:off x="6309360" y="1508760"/>
            <a:ext cx="5120640" cy="3657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1600" spc="-1" strike="noStrike">
                <a:solidFill>
                  <a:srgbClr val="018090"/>
                </a:solidFill>
                <a:latin typeface="Calibri-Bold"/>
                <a:ea typeface="Calibri-Bold"/>
              </a:rPr>
              <a:t>What Presentation covers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" name=""/>
          <p:cNvSpPr txBox="1"/>
          <p:nvPr/>
        </p:nvSpPr>
        <p:spPr>
          <a:xfrm>
            <a:off x="6309360" y="1965960"/>
            <a:ext cx="5120640" cy="3931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191520" indent="-191520">
              <a:lnSpc>
                <a:spcPct val="135000"/>
              </a:lnSpc>
              <a:spcAft>
                <a:spcPts val="1001"/>
              </a:spcAft>
              <a:buClr>
                <a:srgbClr val="000000"/>
              </a:buClr>
              <a:buSzPct val="45000"/>
              <a:buFont typeface=""/>
              <a:buChar char=""/>
            </a:pPr>
            <a:r>
              <a:rPr b="0" lang="en-US" sz="1300" spc="-1" strike="noStrike">
                <a:solidFill>
                  <a:srgbClr val="212b3c"/>
                </a:solidFill>
                <a:latin typeface="Calibri"/>
                <a:ea typeface="Calibri"/>
              </a:rPr>
              <a:t>Build milestone status decks (Meetings 2–5)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marL="191520" indent="-191520">
              <a:lnSpc>
                <a:spcPct val="135000"/>
              </a:lnSpc>
              <a:spcAft>
                <a:spcPts val="1001"/>
              </a:spcAft>
              <a:buClr>
                <a:srgbClr val="000000"/>
              </a:buClr>
              <a:buSzPct val="45000"/>
              <a:buFont typeface=""/>
              <a:buChar char=""/>
            </a:pPr>
            <a:r>
              <a:rPr b="0" lang="en-US" sz="1300" spc="-1" strike="noStrike">
                <a:solidFill>
                  <a:srgbClr val="212b3c"/>
                </a:solidFill>
                <a:latin typeface="Calibri"/>
                <a:ea typeface="Calibri"/>
              </a:rPr>
              <a:t>Prepare the live demo script &amp; fallback plan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marL="191520" indent="-191520">
              <a:lnSpc>
                <a:spcPct val="135000"/>
              </a:lnSpc>
              <a:spcAft>
                <a:spcPts val="1001"/>
              </a:spcAft>
              <a:buClr>
                <a:srgbClr val="000000"/>
              </a:buClr>
              <a:buSzPct val="45000"/>
              <a:buFont typeface=""/>
              <a:buChar char=""/>
            </a:pPr>
            <a:r>
              <a:rPr b="0" lang="en-US" sz="1300" spc="-1" strike="noStrike">
                <a:solidFill>
                  <a:srgbClr val="212b3c"/>
                </a:solidFill>
                <a:latin typeface="Calibri"/>
                <a:ea typeface="Calibri"/>
              </a:rPr>
              <a:t>Coordinate what each teammate presents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marL="191520" indent="-191520">
              <a:lnSpc>
                <a:spcPct val="135000"/>
              </a:lnSpc>
              <a:spcAft>
                <a:spcPts val="1001"/>
              </a:spcAft>
              <a:buClr>
                <a:srgbClr val="000000"/>
              </a:buClr>
              <a:buSzPct val="45000"/>
              <a:buFont typeface=""/>
              <a:buChar char=""/>
            </a:pPr>
            <a:r>
              <a:rPr b="0" lang="en-US" sz="1300" spc="-1" strike="noStrike">
                <a:solidFill>
                  <a:srgbClr val="212b3c"/>
                </a:solidFill>
                <a:latin typeface="Calibri"/>
                <a:ea typeface="Calibri"/>
              </a:rPr>
              <a:t>Design the final presentation deck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marL="191520" indent="-191520">
              <a:lnSpc>
                <a:spcPct val="135000"/>
              </a:lnSpc>
              <a:spcAft>
                <a:spcPts val="1001"/>
              </a:spcAft>
              <a:buClr>
                <a:srgbClr val="000000"/>
              </a:buClr>
              <a:buSzPct val="45000"/>
              <a:buFont typeface=""/>
              <a:buChar char=""/>
            </a:pPr>
            <a:r>
              <a:rPr b="0" lang="en-US" sz="1300" spc="-1" strike="noStrike">
                <a:solidFill>
                  <a:srgbClr val="212b3c"/>
                </a:solidFill>
                <a:latin typeface="Calibri"/>
                <a:ea typeface="Calibri"/>
              </a:rPr>
              <a:t>Rehearse timing and Q&amp;A readiness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" name=""/>
          <p:cNvSpPr txBox="1"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000" spc="-1" strike="noStrike">
                <a:solidFill>
                  <a:srgbClr val="6a7586"/>
                </a:solidFill>
                <a:latin typeface="Calibri"/>
                <a:ea typeface="Calibri"/>
              </a:rPr>
              <a:t>CampusAI — QA &amp; Testing Plan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" name=""/>
          <p:cNvSpPr txBox="1"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r"/>
            <a:r>
              <a:rPr b="0" lang="en-US" sz="1000" spc="-1" strike="noStrike">
                <a:solidFill>
                  <a:srgbClr val="6a7586"/>
                </a:solidFill>
                <a:latin typeface="Calibri"/>
                <a:ea typeface="Calibri"/>
              </a:rPr>
              <a:t>3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"/>
          <p:cNvSpPr txBox="1"/>
          <p:nvPr/>
        </p:nvSpPr>
        <p:spPr>
          <a:xfrm>
            <a:off x="548640" y="411480"/>
            <a:ext cx="7315200" cy="5486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3000" spc="-1" strike="noStrike">
                <a:solidFill>
                  <a:srgbClr val="1d2660"/>
                </a:solidFill>
                <a:latin typeface="Cambria"/>
                <a:ea typeface="Cambria"/>
              </a:rPr>
              <a:t>Testing Strategy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" name=""/>
          <p:cNvSpPr txBox="1"/>
          <p:nvPr/>
        </p:nvSpPr>
        <p:spPr>
          <a:xfrm>
            <a:off x="548640" y="960120"/>
            <a:ext cx="10058400" cy="3657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500" spc="-1" strike="noStrike">
                <a:solidFill>
                  <a:srgbClr val="6a7586"/>
                </a:solidFill>
                <a:latin typeface="Calibri"/>
                <a:ea typeface="Calibri"/>
              </a:rPr>
              <a:t>Seven layers of testing across the Next.js + FastAPI + RAG stack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" name=""/>
          <p:cNvSpPr/>
          <p:nvPr/>
        </p:nvSpPr>
        <p:spPr>
          <a:xfrm>
            <a:off x="548640" y="1783080"/>
            <a:ext cx="1536480" cy="3292200"/>
          </a:xfrm>
          <a:custGeom>
            <a:avLst/>
            <a:gdLst/>
            <a:ahLst/>
            <a:rect l="0" t="0" r="r" b="b"/>
            <a:pathLst>
              <a:path w="4268" h="9145">
                <a:moveTo>
                  <a:pt x="4064" y="0"/>
                </a:moveTo>
                <a:cubicBezTo>
                  <a:pt x="4200" y="0"/>
                  <a:pt x="4268" y="68"/>
                  <a:pt x="4268" y="203"/>
                </a:cubicBezTo>
                <a:lnTo>
                  <a:pt x="4268" y="8941"/>
                </a:lnTo>
                <a:cubicBezTo>
                  <a:pt x="4268" y="9077"/>
                  <a:pt x="4200" y="9145"/>
                  <a:pt x="4064" y="9145"/>
                </a:cubicBezTo>
                <a:lnTo>
                  <a:pt x="203" y="9145"/>
                </a:lnTo>
                <a:cubicBezTo>
                  <a:pt x="68" y="9145"/>
                  <a:pt x="0" y="9077"/>
                  <a:pt x="0" y="8941"/>
                </a:cubicBezTo>
                <a:lnTo>
                  <a:pt x="0" y="203"/>
                </a:lnTo>
                <a:cubicBezTo>
                  <a:pt x="0" y="68"/>
                  <a:pt x="68" y="0"/>
                  <a:pt x="203" y="0"/>
                </a:cubicBezTo>
                <a:lnTo>
                  <a:pt x="4064" y="0"/>
                </a:lnTo>
                <a:close/>
              </a:path>
            </a:pathLst>
          </a:custGeom>
          <a:solidFill>
            <a:srgbClr val="018090"/>
          </a:solidFill>
          <a:ln w="0">
            <a:noFill/>
          </a:ln>
        </p:spPr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8" name=""/>
          <p:cNvSpPr/>
          <p:nvPr/>
        </p:nvSpPr>
        <p:spPr>
          <a:xfrm>
            <a:off x="1088280" y="2057400"/>
            <a:ext cx="457560" cy="457560"/>
          </a:xfrm>
          <a:custGeom>
            <a:avLst/>
            <a:gdLst/>
            <a:ahLst/>
            <a:rect l="0" t="0" r="r" b="b"/>
            <a:pathLst>
              <a:path w="1271" h="1271">
                <a:moveTo>
                  <a:pt x="1086" y="185"/>
                </a:moveTo>
                <a:cubicBezTo>
                  <a:pt x="1333" y="434"/>
                  <a:pt x="1333" y="837"/>
                  <a:pt x="1086" y="1086"/>
                </a:cubicBezTo>
                <a:cubicBezTo>
                  <a:pt x="837" y="1333"/>
                  <a:pt x="434" y="1333"/>
                  <a:pt x="185" y="1086"/>
                </a:cubicBezTo>
                <a:cubicBezTo>
                  <a:pt x="-61" y="837"/>
                  <a:pt x="-61" y="434"/>
                  <a:pt x="185" y="185"/>
                </a:cubicBezTo>
                <a:cubicBezTo>
                  <a:pt x="434" y="-61"/>
                  <a:pt x="837" y="-61"/>
                  <a:pt x="1086" y="185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" name=""/>
          <p:cNvSpPr txBox="1"/>
          <p:nvPr/>
        </p:nvSpPr>
        <p:spPr>
          <a:xfrm>
            <a:off x="1088280" y="2057400"/>
            <a:ext cx="45720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ctr"/>
            <a:r>
              <a:rPr b="1" lang="en-US" sz="1600" spc="-1" strike="noStrike">
                <a:solidFill>
                  <a:srgbClr val="018090"/>
                </a:solidFill>
                <a:latin typeface="Calibri-Bold"/>
                <a:ea typeface="Calibri-Bold"/>
              </a:rPr>
              <a:t>1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" name=""/>
          <p:cNvSpPr txBox="1"/>
          <p:nvPr/>
        </p:nvSpPr>
        <p:spPr>
          <a:xfrm>
            <a:off x="621720" y="2697480"/>
            <a:ext cx="1389960" cy="640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ctr"/>
            <a:r>
              <a:rPr b="1" lang="en-US" sz="1200" spc="-1" strike="noStrike">
                <a:solidFill>
                  <a:srgbClr val="ffffff"/>
                </a:solidFill>
                <a:latin typeface="Calibri-Bold"/>
                <a:ea typeface="Calibri-Bold"/>
              </a:rPr>
              <a:t>Unit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" name=""/>
          <p:cNvSpPr txBox="1"/>
          <p:nvPr/>
        </p:nvSpPr>
        <p:spPr>
          <a:xfrm>
            <a:off x="640080" y="3291840"/>
            <a:ext cx="1353240" cy="16916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ctr"/>
            <a:r>
              <a:rPr b="0" lang="en-US" sz="1000" spc="-1" strike="noStrike">
                <a:solidFill>
                  <a:srgbClr val="e8ecf5"/>
                </a:solidFill>
                <a:latin typeface="Calibri"/>
                <a:ea typeface="Calibri"/>
              </a:rPr>
              <a:t>Backend &amp; frontend logic in isolation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" name=""/>
          <p:cNvSpPr/>
          <p:nvPr/>
        </p:nvSpPr>
        <p:spPr>
          <a:xfrm>
            <a:off x="2212920" y="1783080"/>
            <a:ext cx="1536480" cy="3292200"/>
          </a:xfrm>
          <a:custGeom>
            <a:avLst/>
            <a:gdLst/>
            <a:ahLst/>
            <a:rect l="0" t="0" r="r" b="b"/>
            <a:pathLst>
              <a:path w="4268" h="9145">
                <a:moveTo>
                  <a:pt x="4064" y="0"/>
                </a:moveTo>
                <a:cubicBezTo>
                  <a:pt x="4200" y="0"/>
                  <a:pt x="4268" y="68"/>
                  <a:pt x="4268" y="203"/>
                </a:cubicBezTo>
                <a:lnTo>
                  <a:pt x="4268" y="8941"/>
                </a:lnTo>
                <a:cubicBezTo>
                  <a:pt x="4268" y="9077"/>
                  <a:pt x="4200" y="9145"/>
                  <a:pt x="4064" y="9145"/>
                </a:cubicBezTo>
                <a:lnTo>
                  <a:pt x="203" y="9145"/>
                </a:lnTo>
                <a:cubicBezTo>
                  <a:pt x="68" y="9145"/>
                  <a:pt x="0" y="9077"/>
                  <a:pt x="0" y="8941"/>
                </a:cubicBezTo>
                <a:lnTo>
                  <a:pt x="0" y="203"/>
                </a:lnTo>
                <a:cubicBezTo>
                  <a:pt x="0" y="68"/>
                  <a:pt x="68" y="0"/>
                  <a:pt x="203" y="0"/>
                </a:cubicBezTo>
                <a:lnTo>
                  <a:pt x="4064" y="0"/>
                </a:lnTo>
                <a:close/>
              </a:path>
            </a:pathLst>
          </a:custGeom>
          <a:solidFill>
            <a:srgbClr val="1d2660"/>
          </a:solidFill>
          <a:ln w="0">
            <a:noFill/>
          </a:ln>
        </p:spPr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3" name=""/>
          <p:cNvSpPr/>
          <p:nvPr/>
        </p:nvSpPr>
        <p:spPr>
          <a:xfrm>
            <a:off x="2752200" y="2057400"/>
            <a:ext cx="457560" cy="457560"/>
          </a:xfrm>
          <a:custGeom>
            <a:avLst/>
            <a:gdLst/>
            <a:ahLst/>
            <a:rect l="0" t="0" r="r" b="b"/>
            <a:pathLst>
              <a:path w="1271" h="1271">
                <a:moveTo>
                  <a:pt x="1086" y="185"/>
                </a:moveTo>
                <a:cubicBezTo>
                  <a:pt x="1333" y="434"/>
                  <a:pt x="1333" y="837"/>
                  <a:pt x="1086" y="1086"/>
                </a:cubicBezTo>
                <a:cubicBezTo>
                  <a:pt x="837" y="1333"/>
                  <a:pt x="434" y="1333"/>
                  <a:pt x="185" y="1086"/>
                </a:cubicBezTo>
                <a:cubicBezTo>
                  <a:pt x="-61" y="837"/>
                  <a:pt x="-61" y="434"/>
                  <a:pt x="185" y="185"/>
                </a:cubicBezTo>
                <a:cubicBezTo>
                  <a:pt x="434" y="-61"/>
                  <a:pt x="837" y="-61"/>
                  <a:pt x="1086" y="185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" name=""/>
          <p:cNvSpPr txBox="1"/>
          <p:nvPr/>
        </p:nvSpPr>
        <p:spPr>
          <a:xfrm>
            <a:off x="2752200" y="2057400"/>
            <a:ext cx="45720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ctr"/>
            <a:r>
              <a:rPr b="1" lang="en-US" sz="1600" spc="-1" strike="noStrike">
                <a:solidFill>
                  <a:srgbClr val="1d2660"/>
                </a:solidFill>
                <a:latin typeface="Calibri-Bold"/>
                <a:ea typeface="Calibri-Bold"/>
              </a:rPr>
              <a:t>2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" name=""/>
          <p:cNvSpPr txBox="1"/>
          <p:nvPr/>
        </p:nvSpPr>
        <p:spPr>
          <a:xfrm>
            <a:off x="2286000" y="2697480"/>
            <a:ext cx="1389960" cy="640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ctr"/>
            <a:r>
              <a:rPr b="1" lang="en-US" sz="1200" spc="-1" strike="noStrike">
                <a:solidFill>
                  <a:srgbClr val="ffffff"/>
                </a:solidFill>
                <a:latin typeface="Calibri-Bold"/>
                <a:ea typeface="Calibri-Bold"/>
              </a:rPr>
              <a:t>API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" name=""/>
          <p:cNvSpPr txBox="1"/>
          <p:nvPr/>
        </p:nvSpPr>
        <p:spPr>
          <a:xfrm>
            <a:off x="2304360" y="3291840"/>
            <a:ext cx="1353240" cy="16916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ctr"/>
            <a:r>
              <a:rPr b="0" lang="en-US" sz="1000" spc="-1" strike="noStrike">
                <a:solidFill>
                  <a:srgbClr val="e8ecf5"/>
                </a:solidFill>
                <a:latin typeface="Calibri"/>
                <a:ea typeface="Calibri"/>
              </a:rPr>
              <a:t>curl/Postman checks on /api/query, /health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" name=""/>
          <p:cNvSpPr/>
          <p:nvPr/>
        </p:nvSpPr>
        <p:spPr>
          <a:xfrm>
            <a:off x="3877200" y="1783080"/>
            <a:ext cx="1536480" cy="3292200"/>
          </a:xfrm>
          <a:custGeom>
            <a:avLst/>
            <a:gdLst/>
            <a:ahLst/>
            <a:rect l="0" t="0" r="r" b="b"/>
            <a:pathLst>
              <a:path w="4268" h="9145">
                <a:moveTo>
                  <a:pt x="4064" y="0"/>
                </a:moveTo>
                <a:cubicBezTo>
                  <a:pt x="4200" y="0"/>
                  <a:pt x="4268" y="68"/>
                  <a:pt x="4268" y="203"/>
                </a:cubicBezTo>
                <a:lnTo>
                  <a:pt x="4268" y="8941"/>
                </a:lnTo>
                <a:cubicBezTo>
                  <a:pt x="4268" y="9077"/>
                  <a:pt x="4200" y="9145"/>
                  <a:pt x="4064" y="9145"/>
                </a:cubicBezTo>
                <a:lnTo>
                  <a:pt x="203" y="9145"/>
                </a:lnTo>
                <a:cubicBezTo>
                  <a:pt x="68" y="9145"/>
                  <a:pt x="0" y="9077"/>
                  <a:pt x="0" y="8941"/>
                </a:cubicBezTo>
                <a:lnTo>
                  <a:pt x="0" y="203"/>
                </a:lnTo>
                <a:cubicBezTo>
                  <a:pt x="0" y="68"/>
                  <a:pt x="68" y="0"/>
                  <a:pt x="203" y="0"/>
                </a:cubicBezTo>
                <a:lnTo>
                  <a:pt x="4064" y="0"/>
                </a:lnTo>
                <a:close/>
              </a:path>
            </a:pathLst>
          </a:custGeom>
          <a:solidFill>
            <a:srgbClr val="018090"/>
          </a:solidFill>
          <a:ln w="0">
            <a:noFill/>
          </a:ln>
        </p:spPr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8" name=""/>
          <p:cNvSpPr/>
          <p:nvPr/>
        </p:nvSpPr>
        <p:spPr>
          <a:xfrm>
            <a:off x="4416480" y="2057400"/>
            <a:ext cx="457200" cy="457560"/>
          </a:xfrm>
          <a:custGeom>
            <a:avLst/>
            <a:gdLst/>
            <a:ahLst/>
            <a:rect l="0" t="0" r="r" b="b"/>
            <a:pathLst>
              <a:path w="1270" h="1271">
                <a:moveTo>
                  <a:pt x="1085" y="185"/>
                </a:moveTo>
                <a:cubicBezTo>
                  <a:pt x="1332" y="434"/>
                  <a:pt x="1332" y="837"/>
                  <a:pt x="1085" y="1086"/>
                </a:cubicBezTo>
                <a:cubicBezTo>
                  <a:pt x="837" y="1333"/>
                  <a:pt x="433" y="1333"/>
                  <a:pt x="185" y="1086"/>
                </a:cubicBezTo>
                <a:cubicBezTo>
                  <a:pt x="-61" y="837"/>
                  <a:pt x="-61" y="434"/>
                  <a:pt x="185" y="185"/>
                </a:cubicBezTo>
                <a:cubicBezTo>
                  <a:pt x="433" y="-61"/>
                  <a:pt x="837" y="-61"/>
                  <a:pt x="1085" y="185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" name=""/>
          <p:cNvSpPr txBox="1"/>
          <p:nvPr/>
        </p:nvSpPr>
        <p:spPr>
          <a:xfrm>
            <a:off x="4416480" y="2057400"/>
            <a:ext cx="45720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ctr"/>
            <a:r>
              <a:rPr b="1" lang="en-US" sz="1600" spc="-1" strike="noStrike">
                <a:solidFill>
                  <a:srgbClr val="018090"/>
                </a:solidFill>
                <a:latin typeface="Calibri-Bold"/>
                <a:ea typeface="Calibri-Bold"/>
              </a:rPr>
              <a:t>3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" name=""/>
          <p:cNvSpPr txBox="1"/>
          <p:nvPr/>
        </p:nvSpPr>
        <p:spPr>
          <a:xfrm>
            <a:off x="3950280" y="2697480"/>
            <a:ext cx="1389960" cy="640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ctr"/>
            <a:r>
              <a:rPr b="1" lang="en-US" sz="1200" spc="-1" strike="noStrike">
                <a:solidFill>
                  <a:srgbClr val="ffffff"/>
                </a:solidFill>
                <a:latin typeface="Calibri-Bold"/>
                <a:ea typeface="Calibri-Bold"/>
              </a:rPr>
              <a:t>RAG / Content QA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" name=""/>
          <p:cNvSpPr txBox="1"/>
          <p:nvPr/>
        </p:nvSpPr>
        <p:spPr>
          <a:xfrm>
            <a:off x="3968640" y="3291840"/>
            <a:ext cx="1353240" cy="16916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ctr"/>
            <a:r>
              <a:rPr b="0" lang="en-US" sz="1000" spc="-1" strike="noStrike">
                <a:solidFill>
                  <a:srgbClr val="e8ecf5"/>
                </a:solidFill>
                <a:latin typeface="Calibri"/>
                <a:ea typeface="Calibri"/>
              </a:rPr>
              <a:t>Answers checked against source docs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" name=""/>
          <p:cNvSpPr/>
          <p:nvPr/>
        </p:nvSpPr>
        <p:spPr>
          <a:xfrm>
            <a:off x="5541120" y="1783080"/>
            <a:ext cx="1536480" cy="3292200"/>
          </a:xfrm>
          <a:custGeom>
            <a:avLst/>
            <a:gdLst/>
            <a:ahLst/>
            <a:rect l="0" t="0" r="r" b="b"/>
            <a:pathLst>
              <a:path w="4268" h="9145">
                <a:moveTo>
                  <a:pt x="4064" y="0"/>
                </a:moveTo>
                <a:cubicBezTo>
                  <a:pt x="4200" y="0"/>
                  <a:pt x="4268" y="68"/>
                  <a:pt x="4268" y="203"/>
                </a:cubicBezTo>
                <a:lnTo>
                  <a:pt x="4268" y="8941"/>
                </a:lnTo>
                <a:cubicBezTo>
                  <a:pt x="4268" y="9077"/>
                  <a:pt x="4200" y="9145"/>
                  <a:pt x="4064" y="9145"/>
                </a:cubicBezTo>
                <a:lnTo>
                  <a:pt x="203" y="9145"/>
                </a:lnTo>
                <a:cubicBezTo>
                  <a:pt x="68" y="9145"/>
                  <a:pt x="0" y="9077"/>
                  <a:pt x="0" y="8941"/>
                </a:cubicBezTo>
                <a:lnTo>
                  <a:pt x="0" y="203"/>
                </a:lnTo>
                <a:cubicBezTo>
                  <a:pt x="0" y="68"/>
                  <a:pt x="68" y="0"/>
                  <a:pt x="203" y="0"/>
                </a:cubicBezTo>
                <a:lnTo>
                  <a:pt x="4064" y="0"/>
                </a:lnTo>
                <a:close/>
              </a:path>
            </a:pathLst>
          </a:custGeom>
          <a:solidFill>
            <a:srgbClr val="1d2660"/>
          </a:solidFill>
          <a:ln w="0">
            <a:noFill/>
          </a:ln>
        </p:spPr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3" name=""/>
          <p:cNvSpPr/>
          <p:nvPr/>
        </p:nvSpPr>
        <p:spPr>
          <a:xfrm>
            <a:off x="6080760" y="2057400"/>
            <a:ext cx="457200" cy="457560"/>
          </a:xfrm>
          <a:custGeom>
            <a:avLst/>
            <a:gdLst/>
            <a:ahLst/>
            <a:rect l="0" t="0" r="r" b="b"/>
            <a:pathLst>
              <a:path w="1270" h="1271">
                <a:moveTo>
                  <a:pt x="1085" y="185"/>
                </a:moveTo>
                <a:cubicBezTo>
                  <a:pt x="1332" y="434"/>
                  <a:pt x="1332" y="837"/>
                  <a:pt x="1085" y="1086"/>
                </a:cubicBezTo>
                <a:cubicBezTo>
                  <a:pt x="837" y="1333"/>
                  <a:pt x="433" y="1333"/>
                  <a:pt x="185" y="1086"/>
                </a:cubicBezTo>
                <a:cubicBezTo>
                  <a:pt x="-61" y="837"/>
                  <a:pt x="-61" y="434"/>
                  <a:pt x="185" y="185"/>
                </a:cubicBezTo>
                <a:cubicBezTo>
                  <a:pt x="433" y="-61"/>
                  <a:pt x="837" y="-61"/>
                  <a:pt x="1085" y="185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" name=""/>
          <p:cNvSpPr txBox="1"/>
          <p:nvPr/>
        </p:nvSpPr>
        <p:spPr>
          <a:xfrm>
            <a:off x="6080760" y="2057400"/>
            <a:ext cx="45720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ctr"/>
            <a:r>
              <a:rPr b="1" lang="en-US" sz="1600" spc="-1" strike="noStrike">
                <a:solidFill>
                  <a:srgbClr val="1d2660"/>
                </a:solidFill>
                <a:latin typeface="Calibri-Bold"/>
                <a:ea typeface="Calibri-Bold"/>
              </a:rPr>
              <a:t>4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" name=""/>
          <p:cNvSpPr txBox="1"/>
          <p:nvPr/>
        </p:nvSpPr>
        <p:spPr>
          <a:xfrm>
            <a:off x="5614560" y="2697480"/>
            <a:ext cx="1389960" cy="640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ctr"/>
            <a:r>
              <a:rPr b="1" lang="en-US" sz="1200" spc="-1" strike="noStrike">
                <a:solidFill>
                  <a:srgbClr val="ffffff"/>
                </a:solidFill>
                <a:latin typeface="Calibri-Bold"/>
                <a:ea typeface="Calibri-Bold"/>
              </a:rPr>
              <a:t>Functional / UI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" name=""/>
          <p:cNvSpPr txBox="1"/>
          <p:nvPr/>
        </p:nvSpPr>
        <p:spPr>
          <a:xfrm>
            <a:off x="5632560" y="3291840"/>
            <a:ext cx="1353240" cy="16916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ctr"/>
            <a:r>
              <a:rPr b="0" lang="en-US" sz="1000" spc="-1" strike="noStrike">
                <a:solidFill>
                  <a:srgbClr val="e8ecf5"/>
                </a:solidFill>
                <a:latin typeface="Calibri"/>
                <a:ea typeface="Calibri"/>
              </a:rPr>
              <a:t>Manual walkthroughs of chat, avatar, TTS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" name=""/>
          <p:cNvSpPr/>
          <p:nvPr/>
        </p:nvSpPr>
        <p:spPr>
          <a:xfrm>
            <a:off x="7205400" y="1783080"/>
            <a:ext cx="1536480" cy="3292200"/>
          </a:xfrm>
          <a:custGeom>
            <a:avLst/>
            <a:gdLst/>
            <a:ahLst/>
            <a:rect l="0" t="0" r="r" b="b"/>
            <a:pathLst>
              <a:path w="4268" h="9145">
                <a:moveTo>
                  <a:pt x="4064" y="0"/>
                </a:moveTo>
                <a:cubicBezTo>
                  <a:pt x="4200" y="0"/>
                  <a:pt x="4268" y="68"/>
                  <a:pt x="4268" y="203"/>
                </a:cubicBezTo>
                <a:lnTo>
                  <a:pt x="4268" y="8941"/>
                </a:lnTo>
                <a:cubicBezTo>
                  <a:pt x="4268" y="9077"/>
                  <a:pt x="4200" y="9145"/>
                  <a:pt x="4064" y="9145"/>
                </a:cubicBezTo>
                <a:lnTo>
                  <a:pt x="203" y="9145"/>
                </a:lnTo>
                <a:cubicBezTo>
                  <a:pt x="68" y="9145"/>
                  <a:pt x="0" y="9077"/>
                  <a:pt x="0" y="8941"/>
                </a:cubicBezTo>
                <a:lnTo>
                  <a:pt x="0" y="203"/>
                </a:lnTo>
                <a:cubicBezTo>
                  <a:pt x="0" y="68"/>
                  <a:pt x="68" y="0"/>
                  <a:pt x="203" y="0"/>
                </a:cubicBezTo>
                <a:lnTo>
                  <a:pt x="4064" y="0"/>
                </a:lnTo>
                <a:close/>
              </a:path>
            </a:pathLst>
          </a:custGeom>
          <a:solidFill>
            <a:srgbClr val="018090"/>
          </a:solidFill>
          <a:ln w="0">
            <a:noFill/>
          </a:ln>
        </p:spPr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8" name=""/>
          <p:cNvSpPr/>
          <p:nvPr/>
        </p:nvSpPr>
        <p:spPr>
          <a:xfrm>
            <a:off x="7745040" y="2057400"/>
            <a:ext cx="457200" cy="457560"/>
          </a:xfrm>
          <a:custGeom>
            <a:avLst/>
            <a:gdLst/>
            <a:ahLst/>
            <a:rect l="0" t="0" r="r" b="b"/>
            <a:pathLst>
              <a:path w="1270" h="1271">
                <a:moveTo>
                  <a:pt x="1085" y="185"/>
                </a:moveTo>
                <a:cubicBezTo>
                  <a:pt x="1332" y="434"/>
                  <a:pt x="1332" y="837"/>
                  <a:pt x="1085" y="1086"/>
                </a:cubicBezTo>
                <a:cubicBezTo>
                  <a:pt x="837" y="1333"/>
                  <a:pt x="433" y="1333"/>
                  <a:pt x="185" y="1086"/>
                </a:cubicBezTo>
                <a:cubicBezTo>
                  <a:pt x="-61" y="837"/>
                  <a:pt x="-61" y="434"/>
                  <a:pt x="185" y="185"/>
                </a:cubicBezTo>
                <a:cubicBezTo>
                  <a:pt x="433" y="-61"/>
                  <a:pt x="837" y="-61"/>
                  <a:pt x="1085" y="185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" name=""/>
          <p:cNvSpPr txBox="1"/>
          <p:nvPr/>
        </p:nvSpPr>
        <p:spPr>
          <a:xfrm>
            <a:off x="7745040" y="2057400"/>
            <a:ext cx="45720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ctr"/>
            <a:r>
              <a:rPr b="1" lang="en-US" sz="1600" spc="-1" strike="noStrike">
                <a:solidFill>
                  <a:srgbClr val="018090"/>
                </a:solidFill>
                <a:latin typeface="Calibri-Bold"/>
                <a:ea typeface="Calibri-Bold"/>
              </a:rPr>
              <a:t>5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" name=""/>
          <p:cNvSpPr txBox="1"/>
          <p:nvPr/>
        </p:nvSpPr>
        <p:spPr>
          <a:xfrm>
            <a:off x="7278480" y="2697480"/>
            <a:ext cx="1389960" cy="640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ctr"/>
            <a:r>
              <a:rPr b="1" lang="en-US" sz="1200" spc="-1" strike="noStrike">
                <a:solidFill>
                  <a:srgbClr val="ffffff"/>
                </a:solidFill>
                <a:latin typeface="Calibri-Bold"/>
                <a:ea typeface="Calibri-Bold"/>
              </a:rPr>
              <a:t>Usability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" name=""/>
          <p:cNvSpPr txBox="1"/>
          <p:nvPr/>
        </p:nvSpPr>
        <p:spPr>
          <a:xfrm>
            <a:off x="7296840" y="3291840"/>
            <a:ext cx="1353240" cy="16916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ctr"/>
            <a:r>
              <a:rPr b="0" lang="en-US" sz="1000" spc="-1" strike="noStrike">
                <a:solidFill>
                  <a:srgbClr val="e8ecf5"/>
                </a:solidFill>
                <a:latin typeface="Calibri"/>
                <a:ea typeface="Calibri"/>
              </a:rPr>
              <a:t>Non-team member tries real questions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" name=""/>
          <p:cNvSpPr/>
          <p:nvPr/>
        </p:nvSpPr>
        <p:spPr>
          <a:xfrm>
            <a:off x="8869680" y="1783080"/>
            <a:ext cx="1536480" cy="3292200"/>
          </a:xfrm>
          <a:custGeom>
            <a:avLst/>
            <a:gdLst/>
            <a:ahLst/>
            <a:rect l="0" t="0" r="r" b="b"/>
            <a:pathLst>
              <a:path w="4268" h="9145">
                <a:moveTo>
                  <a:pt x="4064" y="0"/>
                </a:moveTo>
                <a:cubicBezTo>
                  <a:pt x="4200" y="0"/>
                  <a:pt x="4268" y="68"/>
                  <a:pt x="4268" y="203"/>
                </a:cubicBezTo>
                <a:lnTo>
                  <a:pt x="4268" y="8941"/>
                </a:lnTo>
                <a:cubicBezTo>
                  <a:pt x="4268" y="9077"/>
                  <a:pt x="4200" y="9145"/>
                  <a:pt x="4064" y="9145"/>
                </a:cubicBezTo>
                <a:lnTo>
                  <a:pt x="203" y="9145"/>
                </a:lnTo>
                <a:cubicBezTo>
                  <a:pt x="68" y="9145"/>
                  <a:pt x="0" y="9077"/>
                  <a:pt x="0" y="8941"/>
                </a:cubicBezTo>
                <a:lnTo>
                  <a:pt x="0" y="203"/>
                </a:lnTo>
                <a:cubicBezTo>
                  <a:pt x="0" y="68"/>
                  <a:pt x="68" y="0"/>
                  <a:pt x="203" y="0"/>
                </a:cubicBezTo>
                <a:lnTo>
                  <a:pt x="4064" y="0"/>
                </a:lnTo>
                <a:close/>
              </a:path>
            </a:pathLst>
          </a:custGeom>
          <a:solidFill>
            <a:srgbClr val="1d2660"/>
          </a:solidFill>
          <a:ln w="0">
            <a:noFill/>
          </a:ln>
        </p:spPr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3" name=""/>
          <p:cNvSpPr/>
          <p:nvPr/>
        </p:nvSpPr>
        <p:spPr>
          <a:xfrm>
            <a:off x="9409320" y="2057400"/>
            <a:ext cx="457200" cy="457560"/>
          </a:xfrm>
          <a:custGeom>
            <a:avLst/>
            <a:gdLst/>
            <a:ahLst/>
            <a:rect l="0" t="0" r="r" b="b"/>
            <a:pathLst>
              <a:path w="1270" h="1271">
                <a:moveTo>
                  <a:pt x="1085" y="185"/>
                </a:moveTo>
                <a:cubicBezTo>
                  <a:pt x="1332" y="434"/>
                  <a:pt x="1332" y="837"/>
                  <a:pt x="1085" y="1086"/>
                </a:cubicBezTo>
                <a:cubicBezTo>
                  <a:pt x="837" y="1333"/>
                  <a:pt x="433" y="1333"/>
                  <a:pt x="185" y="1086"/>
                </a:cubicBezTo>
                <a:cubicBezTo>
                  <a:pt x="-61" y="837"/>
                  <a:pt x="-61" y="434"/>
                  <a:pt x="185" y="185"/>
                </a:cubicBezTo>
                <a:cubicBezTo>
                  <a:pt x="433" y="-61"/>
                  <a:pt x="837" y="-61"/>
                  <a:pt x="1085" y="185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" name=""/>
          <p:cNvSpPr txBox="1"/>
          <p:nvPr/>
        </p:nvSpPr>
        <p:spPr>
          <a:xfrm>
            <a:off x="9409320" y="2057400"/>
            <a:ext cx="45720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ctr"/>
            <a:r>
              <a:rPr b="1" lang="en-US" sz="1600" spc="-1" strike="noStrike">
                <a:solidFill>
                  <a:srgbClr val="1d2660"/>
                </a:solidFill>
                <a:latin typeface="Calibri-Bold"/>
                <a:ea typeface="Calibri-Bold"/>
              </a:rPr>
              <a:t>6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" name=""/>
          <p:cNvSpPr txBox="1"/>
          <p:nvPr/>
        </p:nvSpPr>
        <p:spPr>
          <a:xfrm>
            <a:off x="8942760" y="2697480"/>
            <a:ext cx="1389960" cy="640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ctr"/>
            <a:r>
              <a:rPr b="1" lang="en-US" sz="1200" spc="-1" strike="noStrike">
                <a:solidFill>
                  <a:srgbClr val="ffffff"/>
                </a:solidFill>
                <a:latin typeface="Calibri-Bold"/>
                <a:ea typeface="Calibri-Bold"/>
              </a:rPr>
              <a:t>Regression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" name=""/>
          <p:cNvSpPr txBox="1"/>
          <p:nvPr/>
        </p:nvSpPr>
        <p:spPr>
          <a:xfrm>
            <a:off x="8961120" y="3291840"/>
            <a:ext cx="1353240" cy="16916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ctr"/>
            <a:r>
              <a:rPr b="0" lang="en-US" sz="1000" spc="-1" strike="noStrike">
                <a:solidFill>
                  <a:srgbClr val="e8ecf5"/>
                </a:solidFill>
                <a:latin typeface="Calibri"/>
                <a:ea typeface="Calibri"/>
              </a:rPr>
              <a:t>Re-run passed cases after each change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" name=""/>
          <p:cNvSpPr/>
          <p:nvPr/>
        </p:nvSpPr>
        <p:spPr>
          <a:xfrm>
            <a:off x="10533960" y="1783080"/>
            <a:ext cx="1536480" cy="3292200"/>
          </a:xfrm>
          <a:custGeom>
            <a:avLst/>
            <a:gdLst/>
            <a:ahLst/>
            <a:rect l="0" t="0" r="r" b="b"/>
            <a:pathLst>
              <a:path w="4268" h="9145">
                <a:moveTo>
                  <a:pt x="4064" y="0"/>
                </a:moveTo>
                <a:cubicBezTo>
                  <a:pt x="4200" y="0"/>
                  <a:pt x="4268" y="68"/>
                  <a:pt x="4268" y="203"/>
                </a:cubicBezTo>
                <a:lnTo>
                  <a:pt x="4268" y="8941"/>
                </a:lnTo>
                <a:cubicBezTo>
                  <a:pt x="4268" y="9077"/>
                  <a:pt x="4200" y="9145"/>
                  <a:pt x="4064" y="9145"/>
                </a:cubicBezTo>
                <a:lnTo>
                  <a:pt x="203" y="9145"/>
                </a:lnTo>
                <a:cubicBezTo>
                  <a:pt x="68" y="9145"/>
                  <a:pt x="0" y="9077"/>
                  <a:pt x="0" y="8941"/>
                </a:cubicBezTo>
                <a:lnTo>
                  <a:pt x="0" y="203"/>
                </a:lnTo>
                <a:cubicBezTo>
                  <a:pt x="0" y="68"/>
                  <a:pt x="68" y="0"/>
                  <a:pt x="203" y="0"/>
                </a:cubicBezTo>
                <a:lnTo>
                  <a:pt x="4064" y="0"/>
                </a:lnTo>
                <a:close/>
              </a:path>
            </a:pathLst>
          </a:custGeom>
          <a:solidFill>
            <a:srgbClr val="018090"/>
          </a:solidFill>
          <a:ln w="0">
            <a:noFill/>
          </a:ln>
        </p:spPr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8" name=""/>
          <p:cNvSpPr/>
          <p:nvPr/>
        </p:nvSpPr>
        <p:spPr>
          <a:xfrm>
            <a:off x="11073240" y="2057400"/>
            <a:ext cx="457200" cy="457560"/>
          </a:xfrm>
          <a:custGeom>
            <a:avLst/>
            <a:gdLst/>
            <a:ahLst/>
            <a:rect l="0" t="0" r="r" b="b"/>
            <a:pathLst>
              <a:path w="1270" h="1271">
                <a:moveTo>
                  <a:pt x="1085" y="185"/>
                </a:moveTo>
                <a:cubicBezTo>
                  <a:pt x="1332" y="434"/>
                  <a:pt x="1332" y="837"/>
                  <a:pt x="1085" y="1086"/>
                </a:cubicBezTo>
                <a:cubicBezTo>
                  <a:pt x="837" y="1333"/>
                  <a:pt x="433" y="1333"/>
                  <a:pt x="185" y="1086"/>
                </a:cubicBezTo>
                <a:cubicBezTo>
                  <a:pt x="-61" y="837"/>
                  <a:pt x="-61" y="434"/>
                  <a:pt x="185" y="185"/>
                </a:cubicBezTo>
                <a:cubicBezTo>
                  <a:pt x="433" y="-61"/>
                  <a:pt x="837" y="-61"/>
                  <a:pt x="1085" y="185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" name=""/>
          <p:cNvSpPr txBox="1"/>
          <p:nvPr/>
        </p:nvSpPr>
        <p:spPr>
          <a:xfrm>
            <a:off x="11073240" y="2057400"/>
            <a:ext cx="45720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ctr"/>
            <a:r>
              <a:rPr b="1" lang="en-US" sz="1600" spc="-1" strike="noStrike">
                <a:solidFill>
                  <a:srgbClr val="018090"/>
                </a:solidFill>
                <a:latin typeface="Calibri-Bold"/>
                <a:ea typeface="Calibri-Bold"/>
              </a:rPr>
              <a:t>7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" name=""/>
          <p:cNvSpPr txBox="1"/>
          <p:nvPr/>
        </p:nvSpPr>
        <p:spPr>
          <a:xfrm>
            <a:off x="10607040" y="2697480"/>
            <a:ext cx="1389960" cy="640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ctr"/>
            <a:r>
              <a:rPr b="1" lang="en-US" sz="1200" spc="-1" strike="noStrike">
                <a:solidFill>
                  <a:srgbClr val="ffffff"/>
                </a:solidFill>
                <a:latin typeface="Calibri-Bold"/>
                <a:ea typeface="Calibri-Bold"/>
              </a:rPr>
              <a:t>Performance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" name=""/>
          <p:cNvSpPr txBox="1"/>
          <p:nvPr/>
        </p:nvSpPr>
        <p:spPr>
          <a:xfrm>
            <a:off x="10625400" y="3291840"/>
            <a:ext cx="1353240" cy="16916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ctr"/>
            <a:r>
              <a:rPr b="0" lang="en-US" sz="1000" spc="-1" strike="noStrike">
                <a:solidFill>
                  <a:srgbClr val="e8ecf5"/>
                </a:solidFill>
                <a:latin typeface="Calibri"/>
                <a:ea typeface="Calibri"/>
              </a:rPr>
              <a:t>Response-time checks before demos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" name=""/>
          <p:cNvSpPr txBox="1"/>
          <p:nvPr/>
        </p:nvSpPr>
        <p:spPr>
          <a:xfrm>
            <a:off x="548640" y="5349240"/>
            <a:ext cx="10515600" cy="5486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i="1" lang="en-US" sz="1300" spc="-1" strike="noStrike">
                <a:solidFill>
                  <a:srgbClr val="6a7586"/>
                </a:solidFill>
                <a:latin typeface="Calibri-Italic"/>
                <a:ea typeface="Calibri-Italic"/>
              </a:rPr>
              <a:t>Focus for the current milestone (repo skeleton): smoke-test that frontend and backend both start cleanly.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" name=""/>
          <p:cNvSpPr txBox="1"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000" spc="-1" strike="noStrike">
                <a:solidFill>
                  <a:srgbClr val="6a7586"/>
                </a:solidFill>
                <a:latin typeface="Calibri"/>
                <a:ea typeface="Calibri"/>
              </a:rPr>
              <a:t>CampusAI — QA &amp; Testing Plan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" name=""/>
          <p:cNvSpPr txBox="1"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r"/>
            <a:r>
              <a:rPr b="0" lang="en-US" sz="1000" spc="-1" strike="noStrike">
                <a:solidFill>
                  <a:srgbClr val="6a7586"/>
                </a:solidFill>
                <a:latin typeface="Calibri"/>
                <a:ea typeface="Calibri"/>
              </a:rPr>
              <a:t>4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"/>
          <p:cNvSpPr txBox="1"/>
          <p:nvPr/>
        </p:nvSpPr>
        <p:spPr>
          <a:xfrm>
            <a:off x="548640" y="411480"/>
            <a:ext cx="7315200" cy="5486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3000" spc="-1" strike="noStrike">
                <a:solidFill>
                  <a:srgbClr val="1d2660"/>
                </a:solidFill>
                <a:latin typeface="Cambria"/>
                <a:ea typeface="Cambria"/>
              </a:rPr>
              <a:t>Sample Test Cases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" name=""/>
          <p:cNvSpPr txBox="1"/>
          <p:nvPr/>
        </p:nvSpPr>
        <p:spPr>
          <a:xfrm>
            <a:off x="548640" y="960120"/>
            <a:ext cx="10058400" cy="3657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500" spc="-1" strike="noStrike">
                <a:solidFill>
                  <a:srgbClr val="6a7586"/>
                </a:solidFill>
                <a:latin typeface="Calibri"/>
                <a:ea typeface="Calibri"/>
              </a:rPr>
              <a:t>From the full test plan — 15 cases total across all MVP features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97" name=""/>
          <p:cNvGraphicFramePr/>
          <p:nvPr/>
        </p:nvGraphicFramePr>
        <p:xfrm>
          <a:off x="548640" y="1600200"/>
          <a:ext cx="10515600" cy="3017520"/>
        </p:xfrm>
        <a:graphic>
          <a:graphicData uri="http://schemas.openxmlformats.org/drawingml/2006/table">
            <a:tbl>
              <a:tblPr/>
              <a:tblGrid>
                <a:gridCol w="1005840"/>
                <a:gridCol w="2377440"/>
                <a:gridCol w="5577840"/>
                <a:gridCol w="1554480"/>
              </a:tblGrid>
              <a:tr h="502920">
                <a:tc>
                  <a:txBody>
                    <a:bodyPr lIns="34920" rIns="34920" tIns="34920" bIns="34920" anchor="t" anchorCtr="1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4920" marR="34920">
                    <a:lnL w="18720">
                      <a:solidFill>
                        <a:srgbClr val="e3e8f0"/>
                      </a:solidFill>
                      <a:prstDash val="solid"/>
                    </a:lnL>
                    <a:lnR w="18720">
                      <a:solidFill>
                        <a:srgbClr val="e3e8f0"/>
                      </a:solidFill>
                      <a:prstDash val="solid"/>
                    </a:lnR>
                    <a:lnT w="18720">
                      <a:solidFill>
                        <a:srgbClr val="e3e8f0"/>
                      </a:solidFill>
                      <a:prstDash val="solid"/>
                    </a:lnT>
                    <a:lnB w="18720">
                      <a:solidFill>
                        <a:srgbClr val="e3e8f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4920" rIns="34920" tIns="34920" bIns="34920" anchor="t" anchorCtr="1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4920" marR="34920">
                    <a:lnL w="18720">
                      <a:solidFill>
                        <a:srgbClr val="e3e8f0"/>
                      </a:solidFill>
                      <a:prstDash val="solid"/>
                    </a:lnL>
                    <a:lnR w="18720">
                      <a:solidFill>
                        <a:srgbClr val="e3e8f0"/>
                      </a:solidFill>
                      <a:prstDash val="solid"/>
                    </a:lnR>
                    <a:lnT w="18720">
                      <a:solidFill>
                        <a:srgbClr val="e3e8f0"/>
                      </a:solidFill>
                      <a:prstDash val="solid"/>
                    </a:lnT>
                    <a:lnB w="18720">
                      <a:solidFill>
                        <a:srgbClr val="e3e8f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4920" rIns="34920" tIns="34920" bIns="34920" anchor="t" anchorCtr="1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4920" marR="34920">
                    <a:lnL w="18720">
                      <a:solidFill>
                        <a:srgbClr val="e3e8f0"/>
                      </a:solidFill>
                      <a:prstDash val="solid"/>
                    </a:lnL>
                    <a:lnR w="18720">
                      <a:solidFill>
                        <a:srgbClr val="e3e8f0"/>
                      </a:solidFill>
                      <a:prstDash val="solid"/>
                    </a:lnR>
                    <a:lnT w="18720">
                      <a:solidFill>
                        <a:srgbClr val="e3e8f0"/>
                      </a:solidFill>
                      <a:prstDash val="solid"/>
                    </a:lnT>
                    <a:lnB w="18720">
                      <a:solidFill>
                        <a:srgbClr val="e3e8f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4920" rIns="34920" tIns="34920" bIns="34920" anchor="t" anchorCtr="1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4920" marR="34920">
                    <a:lnL w="18720">
                      <a:solidFill>
                        <a:srgbClr val="e3e8f0"/>
                      </a:solidFill>
                      <a:prstDash val="solid"/>
                    </a:lnL>
                    <a:lnR w="18720">
                      <a:solidFill>
                        <a:srgbClr val="e3e8f0"/>
                      </a:solidFill>
                      <a:prstDash val="solid"/>
                    </a:lnR>
                    <a:lnT w="18720">
                      <a:solidFill>
                        <a:srgbClr val="e3e8f0"/>
                      </a:solidFill>
                      <a:prstDash val="solid"/>
                    </a:lnT>
                    <a:lnB w="18720">
                      <a:solidFill>
                        <a:srgbClr val="e3e8f0"/>
                      </a:solidFill>
                      <a:prstDash val="solid"/>
                    </a:lnB>
                    <a:noFill/>
                  </a:tcPr>
                </a:tc>
              </a:tr>
              <a:tr h="502920">
                <a:tc>
                  <a:txBody>
                    <a:bodyPr lIns="34920" rIns="34920" tIns="34920" bIns="34920" anchor="t" anchorCtr="1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4920" marR="34920">
                    <a:lnL w="18720">
                      <a:solidFill>
                        <a:srgbClr val="e3e8f0"/>
                      </a:solidFill>
                      <a:prstDash val="solid"/>
                    </a:lnL>
                    <a:lnR w="18720">
                      <a:solidFill>
                        <a:srgbClr val="e3e8f0"/>
                      </a:solidFill>
                      <a:prstDash val="solid"/>
                    </a:lnR>
                    <a:lnT w="18720">
                      <a:solidFill>
                        <a:srgbClr val="e3e8f0"/>
                      </a:solidFill>
                      <a:prstDash val="solid"/>
                    </a:lnT>
                    <a:lnB w="18720">
                      <a:solidFill>
                        <a:srgbClr val="e3e8f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4920" rIns="34920" tIns="34920" bIns="34920" anchor="t" anchorCtr="1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4920" marR="34920">
                    <a:lnL w="18720">
                      <a:solidFill>
                        <a:srgbClr val="e3e8f0"/>
                      </a:solidFill>
                      <a:prstDash val="solid"/>
                    </a:lnL>
                    <a:lnR w="18720">
                      <a:solidFill>
                        <a:srgbClr val="e3e8f0"/>
                      </a:solidFill>
                      <a:prstDash val="solid"/>
                    </a:lnR>
                    <a:lnT w="18720">
                      <a:solidFill>
                        <a:srgbClr val="e3e8f0"/>
                      </a:solidFill>
                      <a:prstDash val="solid"/>
                    </a:lnT>
                    <a:lnB w="18720">
                      <a:solidFill>
                        <a:srgbClr val="e3e8f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4920" rIns="34920" tIns="34920" bIns="34920" anchor="t" anchorCtr="1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4920" marR="34920">
                    <a:lnL w="18720">
                      <a:solidFill>
                        <a:srgbClr val="e3e8f0"/>
                      </a:solidFill>
                      <a:prstDash val="solid"/>
                    </a:lnL>
                    <a:lnR w="18720">
                      <a:solidFill>
                        <a:srgbClr val="e3e8f0"/>
                      </a:solidFill>
                      <a:prstDash val="solid"/>
                    </a:lnR>
                    <a:lnT w="18720">
                      <a:solidFill>
                        <a:srgbClr val="e3e8f0"/>
                      </a:solidFill>
                      <a:prstDash val="solid"/>
                    </a:lnT>
                    <a:lnB w="18720">
                      <a:solidFill>
                        <a:srgbClr val="e3e8f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4920" rIns="34920" tIns="34920" bIns="34920" anchor="t" anchorCtr="1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4920" marR="34920">
                    <a:lnL w="18720">
                      <a:solidFill>
                        <a:srgbClr val="e3e8f0"/>
                      </a:solidFill>
                      <a:prstDash val="solid"/>
                    </a:lnL>
                    <a:lnR w="18720">
                      <a:solidFill>
                        <a:srgbClr val="e3e8f0"/>
                      </a:solidFill>
                      <a:prstDash val="solid"/>
                    </a:lnR>
                    <a:lnT w="18720">
                      <a:solidFill>
                        <a:srgbClr val="e3e8f0"/>
                      </a:solidFill>
                      <a:prstDash val="solid"/>
                    </a:lnT>
                    <a:lnB w="18720">
                      <a:solidFill>
                        <a:srgbClr val="e3e8f0"/>
                      </a:solidFill>
                      <a:prstDash val="solid"/>
                    </a:lnB>
                    <a:noFill/>
                  </a:tcPr>
                </a:tc>
              </a:tr>
              <a:tr h="502920">
                <a:tc>
                  <a:txBody>
                    <a:bodyPr lIns="34920" rIns="34920" tIns="34920" bIns="34920" anchor="t" anchorCtr="1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4920" marR="34920">
                    <a:lnL w="18720">
                      <a:solidFill>
                        <a:srgbClr val="e3e8f0"/>
                      </a:solidFill>
                      <a:prstDash val="solid"/>
                    </a:lnL>
                    <a:lnR w="18720">
                      <a:solidFill>
                        <a:srgbClr val="e3e8f0"/>
                      </a:solidFill>
                      <a:prstDash val="solid"/>
                    </a:lnR>
                    <a:lnT w="18720">
                      <a:solidFill>
                        <a:srgbClr val="e3e8f0"/>
                      </a:solidFill>
                      <a:prstDash val="solid"/>
                    </a:lnT>
                    <a:lnB w="18720">
                      <a:solidFill>
                        <a:srgbClr val="e3e8f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4920" rIns="34920" tIns="34920" bIns="34920" anchor="t" anchorCtr="1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4920" marR="34920">
                    <a:lnL w="18720">
                      <a:solidFill>
                        <a:srgbClr val="e3e8f0"/>
                      </a:solidFill>
                      <a:prstDash val="solid"/>
                    </a:lnL>
                    <a:lnR w="18720">
                      <a:solidFill>
                        <a:srgbClr val="e3e8f0"/>
                      </a:solidFill>
                      <a:prstDash val="solid"/>
                    </a:lnR>
                    <a:lnT w="18720">
                      <a:solidFill>
                        <a:srgbClr val="e3e8f0"/>
                      </a:solidFill>
                      <a:prstDash val="solid"/>
                    </a:lnT>
                    <a:lnB w="18720">
                      <a:solidFill>
                        <a:srgbClr val="e3e8f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4920" rIns="34920" tIns="34920" bIns="34920" anchor="t" anchorCtr="1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4920" marR="34920">
                    <a:lnL w="18720">
                      <a:solidFill>
                        <a:srgbClr val="e3e8f0"/>
                      </a:solidFill>
                      <a:prstDash val="solid"/>
                    </a:lnL>
                    <a:lnR w="18720">
                      <a:solidFill>
                        <a:srgbClr val="e3e8f0"/>
                      </a:solidFill>
                      <a:prstDash val="solid"/>
                    </a:lnR>
                    <a:lnT w="18720">
                      <a:solidFill>
                        <a:srgbClr val="e3e8f0"/>
                      </a:solidFill>
                      <a:prstDash val="solid"/>
                    </a:lnT>
                    <a:lnB w="18720">
                      <a:solidFill>
                        <a:srgbClr val="e3e8f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4920" rIns="34920" tIns="34920" bIns="34920" anchor="t" anchorCtr="1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4920" marR="34920">
                    <a:lnL w="18720">
                      <a:solidFill>
                        <a:srgbClr val="e3e8f0"/>
                      </a:solidFill>
                      <a:prstDash val="solid"/>
                    </a:lnL>
                    <a:lnR w="18720">
                      <a:solidFill>
                        <a:srgbClr val="e3e8f0"/>
                      </a:solidFill>
                      <a:prstDash val="solid"/>
                    </a:lnR>
                    <a:lnT w="18720">
                      <a:solidFill>
                        <a:srgbClr val="e3e8f0"/>
                      </a:solidFill>
                      <a:prstDash val="solid"/>
                    </a:lnT>
                    <a:lnB w="18720">
                      <a:solidFill>
                        <a:srgbClr val="e3e8f0"/>
                      </a:solidFill>
                      <a:prstDash val="solid"/>
                    </a:lnB>
                    <a:noFill/>
                  </a:tcPr>
                </a:tc>
              </a:tr>
              <a:tr h="502920">
                <a:tc>
                  <a:txBody>
                    <a:bodyPr lIns="34920" rIns="34920" tIns="34920" bIns="34920" anchor="t" anchorCtr="1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4920" marR="34920">
                    <a:lnL w="18720">
                      <a:solidFill>
                        <a:srgbClr val="e3e8f0"/>
                      </a:solidFill>
                      <a:prstDash val="solid"/>
                    </a:lnL>
                    <a:lnR w="18720">
                      <a:solidFill>
                        <a:srgbClr val="e3e8f0"/>
                      </a:solidFill>
                      <a:prstDash val="solid"/>
                    </a:lnR>
                    <a:lnT w="18720">
                      <a:solidFill>
                        <a:srgbClr val="e3e8f0"/>
                      </a:solidFill>
                      <a:prstDash val="solid"/>
                    </a:lnT>
                    <a:lnB w="18720">
                      <a:solidFill>
                        <a:srgbClr val="e3e8f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4920" rIns="34920" tIns="34920" bIns="34920" anchor="t" anchorCtr="1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4920" marR="34920">
                    <a:lnL w="18720">
                      <a:solidFill>
                        <a:srgbClr val="e3e8f0"/>
                      </a:solidFill>
                      <a:prstDash val="solid"/>
                    </a:lnL>
                    <a:lnR w="18720">
                      <a:solidFill>
                        <a:srgbClr val="e3e8f0"/>
                      </a:solidFill>
                      <a:prstDash val="solid"/>
                    </a:lnR>
                    <a:lnT w="18720">
                      <a:solidFill>
                        <a:srgbClr val="e3e8f0"/>
                      </a:solidFill>
                      <a:prstDash val="solid"/>
                    </a:lnT>
                    <a:lnB w="18720">
                      <a:solidFill>
                        <a:srgbClr val="e3e8f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4920" rIns="34920" tIns="34920" bIns="34920" anchor="t" anchorCtr="1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4920" marR="34920">
                    <a:lnL w="18720">
                      <a:solidFill>
                        <a:srgbClr val="e3e8f0"/>
                      </a:solidFill>
                      <a:prstDash val="solid"/>
                    </a:lnL>
                    <a:lnR w="18720">
                      <a:solidFill>
                        <a:srgbClr val="e3e8f0"/>
                      </a:solidFill>
                      <a:prstDash val="solid"/>
                    </a:lnR>
                    <a:lnT w="18720">
                      <a:solidFill>
                        <a:srgbClr val="e3e8f0"/>
                      </a:solidFill>
                      <a:prstDash val="solid"/>
                    </a:lnT>
                    <a:lnB w="18720">
                      <a:solidFill>
                        <a:srgbClr val="e3e8f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4920" rIns="34920" tIns="34920" bIns="34920" anchor="t" anchorCtr="1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4920" marR="34920">
                    <a:lnL w="18720">
                      <a:solidFill>
                        <a:srgbClr val="e3e8f0"/>
                      </a:solidFill>
                      <a:prstDash val="solid"/>
                    </a:lnL>
                    <a:lnR w="18720">
                      <a:solidFill>
                        <a:srgbClr val="e3e8f0"/>
                      </a:solidFill>
                      <a:prstDash val="solid"/>
                    </a:lnR>
                    <a:lnT w="18720">
                      <a:solidFill>
                        <a:srgbClr val="e3e8f0"/>
                      </a:solidFill>
                      <a:prstDash val="solid"/>
                    </a:lnT>
                    <a:lnB w="18720">
                      <a:solidFill>
                        <a:srgbClr val="e3e8f0"/>
                      </a:solidFill>
                      <a:prstDash val="solid"/>
                    </a:lnB>
                    <a:noFill/>
                  </a:tcPr>
                </a:tc>
              </a:tr>
              <a:tr h="502920">
                <a:tc>
                  <a:txBody>
                    <a:bodyPr lIns="34920" rIns="34920" tIns="34920" bIns="34920" anchor="t" anchorCtr="1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4920" marR="34920">
                    <a:lnL w="18720">
                      <a:solidFill>
                        <a:srgbClr val="e3e8f0"/>
                      </a:solidFill>
                      <a:prstDash val="solid"/>
                    </a:lnL>
                    <a:lnR w="18720">
                      <a:solidFill>
                        <a:srgbClr val="e3e8f0"/>
                      </a:solidFill>
                      <a:prstDash val="solid"/>
                    </a:lnR>
                    <a:lnT w="18720">
                      <a:solidFill>
                        <a:srgbClr val="e3e8f0"/>
                      </a:solidFill>
                      <a:prstDash val="solid"/>
                    </a:lnT>
                    <a:lnB w="18720">
                      <a:solidFill>
                        <a:srgbClr val="e3e8f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4920" rIns="34920" tIns="34920" bIns="34920" anchor="t" anchorCtr="1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4920" marR="34920">
                    <a:lnL w="18720">
                      <a:solidFill>
                        <a:srgbClr val="e3e8f0"/>
                      </a:solidFill>
                      <a:prstDash val="solid"/>
                    </a:lnL>
                    <a:lnR w="18720">
                      <a:solidFill>
                        <a:srgbClr val="e3e8f0"/>
                      </a:solidFill>
                      <a:prstDash val="solid"/>
                    </a:lnR>
                    <a:lnT w="18720">
                      <a:solidFill>
                        <a:srgbClr val="e3e8f0"/>
                      </a:solidFill>
                      <a:prstDash val="solid"/>
                    </a:lnT>
                    <a:lnB w="18720">
                      <a:solidFill>
                        <a:srgbClr val="e3e8f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4920" rIns="34920" tIns="34920" bIns="34920" anchor="t" anchorCtr="1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4920" marR="34920">
                    <a:lnL w="18720">
                      <a:solidFill>
                        <a:srgbClr val="e3e8f0"/>
                      </a:solidFill>
                      <a:prstDash val="solid"/>
                    </a:lnL>
                    <a:lnR w="18720">
                      <a:solidFill>
                        <a:srgbClr val="e3e8f0"/>
                      </a:solidFill>
                      <a:prstDash val="solid"/>
                    </a:lnR>
                    <a:lnT w="18720">
                      <a:solidFill>
                        <a:srgbClr val="e3e8f0"/>
                      </a:solidFill>
                      <a:prstDash val="solid"/>
                    </a:lnT>
                    <a:lnB w="18720">
                      <a:solidFill>
                        <a:srgbClr val="e3e8f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4920" rIns="34920" tIns="34920" bIns="34920" anchor="t" anchorCtr="1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4920" marR="34920">
                    <a:lnL w="18720">
                      <a:solidFill>
                        <a:srgbClr val="e3e8f0"/>
                      </a:solidFill>
                      <a:prstDash val="solid"/>
                    </a:lnL>
                    <a:lnR w="18720">
                      <a:solidFill>
                        <a:srgbClr val="e3e8f0"/>
                      </a:solidFill>
                      <a:prstDash val="solid"/>
                    </a:lnR>
                    <a:lnT w="18720">
                      <a:solidFill>
                        <a:srgbClr val="e3e8f0"/>
                      </a:solidFill>
                      <a:prstDash val="solid"/>
                    </a:lnT>
                    <a:lnB w="18720">
                      <a:solidFill>
                        <a:srgbClr val="e3e8f0"/>
                      </a:solidFill>
                      <a:prstDash val="solid"/>
                    </a:lnB>
                    <a:noFill/>
                  </a:tcPr>
                </a:tc>
              </a:tr>
              <a:tr h="502920">
                <a:tc>
                  <a:txBody>
                    <a:bodyPr lIns="34920" rIns="34920" tIns="34920" bIns="34920" anchor="t" anchorCtr="1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4920" marR="34920">
                    <a:lnL w="18720">
                      <a:solidFill>
                        <a:srgbClr val="e3e8f0"/>
                      </a:solidFill>
                      <a:prstDash val="solid"/>
                    </a:lnL>
                    <a:lnR w="18720">
                      <a:solidFill>
                        <a:srgbClr val="e3e8f0"/>
                      </a:solidFill>
                      <a:prstDash val="solid"/>
                    </a:lnR>
                    <a:lnT w="18720">
                      <a:solidFill>
                        <a:srgbClr val="e3e8f0"/>
                      </a:solidFill>
                      <a:prstDash val="solid"/>
                    </a:lnT>
                    <a:lnB w="18720">
                      <a:solidFill>
                        <a:srgbClr val="e3e8f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4920" rIns="34920" tIns="34920" bIns="34920" anchor="t" anchorCtr="1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4920" marR="34920">
                    <a:lnL w="18720">
                      <a:solidFill>
                        <a:srgbClr val="e3e8f0"/>
                      </a:solidFill>
                      <a:prstDash val="solid"/>
                    </a:lnL>
                    <a:lnR w="18720">
                      <a:solidFill>
                        <a:srgbClr val="e3e8f0"/>
                      </a:solidFill>
                      <a:prstDash val="solid"/>
                    </a:lnR>
                    <a:lnT w="18720">
                      <a:solidFill>
                        <a:srgbClr val="e3e8f0"/>
                      </a:solidFill>
                      <a:prstDash val="solid"/>
                    </a:lnT>
                    <a:lnB w="18720">
                      <a:solidFill>
                        <a:srgbClr val="e3e8f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4920" rIns="34920" tIns="34920" bIns="34920" anchor="t" anchorCtr="1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4920" marR="34920">
                    <a:lnL w="18720">
                      <a:solidFill>
                        <a:srgbClr val="e3e8f0"/>
                      </a:solidFill>
                      <a:prstDash val="solid"/>
                    </a:lnL>
                    <a:lnR w="18720">
                      <a:solidFill>
                        <a:srgbClr val="e3e8f0"/>
                      </a:solidFill>
                      <a:prstDash val="solid"/>
                    </a:lnR>
                    <a:lnT w="18720">
                      <a:solidFill>
                        <a:srgbClr val="e3e8f0"/>
                      </a:solidFill>
                      <a:prstDash val="solid"/>
                    </a:lnT>
                    <a:lnB w="18720">
                      <a:solidFill>
                        <a:srgbClr val="e3e8f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4920" rIns="34920" tIns="34920" bIns="34920" anchor="t" anchorCtr="1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4920" marR="34920">
                    <a:lnL w="18720">
                      <a:solidFill>
                        <a:srgbClr val="e3e8f0"/>
                      </a:solidFill>
                      <a:prstDash val="solid"/>
                    </a:lnL>
                    <a:lnR w="18720">
                      <a:solidFill>
                        <a:srgbClr val="e3e8f0"/>
                      </a:solidFill>
                      <a:prstDash val="solid"/>
                    </a:lnR>
                    <a:lnT w="18720">
                      <a:solidFill>
                        <a:srgbClr val="e3e8f0"/>
                      </a:solidFill>
                      <a:prstDash val="solid"/>
                    </a:lnT>
                    <a:lnB w="18720">
                      <a:solidFill>
                        <a:srgbClr val="e3e8f0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98" name=""/>
          <p:cNvSpPr txBox="1"/>
          <p:nvPr/>
        </p:nvSpPr>
        <p:spPr>
          <a:xfrm>
            <a:off x="548640" y="5120640"/>
            <a:ext cx="10515600" cy="731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i="1" lang="en-US" sz="1200" spc="-1" strike="noStrike">
                <a:solidFill>
                  <a:srgbClr val="6a7586"/>
                </a:solidFill>
                <a:latin typeface="Calibri-Italic"/>
                <a:ea typeface="Calibri-Italic"/>
              </a:rPr>
              <a:t>Full 15-case matrix (chat, RAG, citations, avatar, TTS, department logic, API, performance, usability) lives in the companion Test Plan document.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" name=""/>
          <p:cNvSpPr txBox="1"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000" spc="-1" strike="noStrike">
                <a:solidFill>
                  <a:srgbClr val="6a7586"/>
                </a:solidFill>
                <a:latin typeface="Calibri"/>
                <a:ea typeface="Calibri"/>
              </a:rPr>
              <a:t>CampusAI — QA &amp; Testing Plan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" name=""/>
          <p:cNvSpPr txBox="1"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r"/>
            <a:r>
              <a:rPr b="0" lang="en-US" sz="1000" spc="-1" strike="noStrike">
                <a:solidFill>
                  <a:srgbClr val="6a7586"/>
                </a:solidFill>
                <a:latin typeface="Calibri"/>
                <a:ea typeface="Calibri"/>
              </a:rPr>
              <a:t>5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"/>
          <p:cNvSpPr txBox="1"/>
          <p:nvPr/>
        </p:nvSpPr>
        <p:spPr>
          <a:xfrm>
            <a:off x="548640" y="411480"/>
            <a:ext cx="9144000" cy="5486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3000" spc="-1" strike="noStrike">
                <a:solidFill>
                  <a:srgbClr val="1d2660"/>
                </a:solidFill>
                <a:latin typeface="Cambria"/>
                <a:ea typeface="Cambria"/>
              </a:rPr>
              <a:t>Tools &amp; Test Environment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" name=""/>
          <p:cNvSpPr/>
          <p:nvPr/>
        </p:nvSpPr>
        <p:spPr>
          <a:xfrm>
            <a:off x="548640" y="1554480"/>
            <a:ext cx="3383640" cy="1371960"/>
          </a:xfrm>
          <a:custGeom>
            <a:avLst/>
            <a:gdLst/>
            <a:ahLst/>
            <a:rect l="0" t="0" r="r" b="b"/>
            <a:pathLst>
              <a:path w="9399" h="3811">
                <a:moveTo>
                  <a:pt x="9196" y="0"/>
                </a:moveTo>
                <a:cubicBezTo>
                  <a:pt x="9331" y="0"/>
                  <a:pt x="9399" y="68"/>
                  <a:pt x="9399" y="203"/>
                </a:cubicBezTo>
                <a:lnTo>
                  <a:pt x="9399" y="3608"/>
                </a:lnTo>
                <a:cubicBezTo>
                  <a:pt x="9399" y="3743"/>
                  <a:pt x="9331" y="3811"/>
                  <a:pt x="9196" y="3811"/>
                </a:cubicBezTo>
                <a:lnTo>
                  <a:pt x="203" y="3811"/>
                </a:lnTo>
                <a:cubicBezTo>
                  <a:pt x="68" y="3811"/>
                  <a:pt x="0" y="3743"/>
                  <a:pt x="0" y="3608"/>
                </a:cubicBezTo>
                <a:lnTo>
                  <a:pt x="0" y="203"/>
                </a:lnTo>
                <a:cubicBezTo>
                  <a:pt x="0" y="68"/>
                  <a:pt x="68" y="0"/>
                  <a:pt x="203" y="0"/>
                </a:cubicBezTo>
                <a:lnTo>
                  <a:pt x="9196" y="0"/>
                </a:lnTo>
                <a:close/>
              </a:path>
            </a:pathLst>
          </a:custGeom>
          <a:solidFill>
            <a:srgbClr val="ffffff"/>
          </a:solidFill>
          <a:ln w="12600">
            <a:solidFill>
              <a:srgbClr val="e3e8f0"/>
            </a:solidFill>
            <a:round/>
          </a:ln>
        </p:spPr>
        <p:txBody>
          <a:bodyPr lIns="96120" rIns="96120" tIns="51120" bIns="5112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" name=""/>
          <p:cNvSpPr/>
          <p:nvPr/>
        </p:nvSpPr>
        <p:spPr>
          <a:xfrm>
            <a:off x="749880" y="1755720"/>
            <a:ext cx="384480" cy="384480"/>
          </a:xfrm>
          <a:custGeom>
            <a:avLst/>
            <a:gdLst/>
            <a:ahLst/>
            <a:rect l="0" t="0" r="r" b="b"/>
            <a:pathLst>
              <a:path w="1068" h="1068">
                <a:moveTo>
                  <a:pt x="912" y="156"/>
                </a:moveTo>
                <a:cubicBezTo>
                  <a:pt x="1120" y="365"/>
                  <a:pt x="1120" y="703"/>
                  <a:pt x="912" y="912"/>
                </a:cubicBezTo>
                <a:cubicBezTo>
                  <a:pt x="703" y="1120"/>
                  <a:pt x="365" y="1120"/>
                  <a:pt x="156" y="912"/>
                </a:cubicBezTo>
                <a:cubicBezTo>
                  <a:pt x="-52" y="703"/>
                  <a:pt x="-52" y="365"/>
                  <a:pt x="156" y="156"/>
                </a:cubicBezTo>
                <a:cubicBezTo>
                  <a:pt x="365" y="-52"/>
                  <a:pt x="703" y="-52"/>
                  <a:pt x="912" y="156"/>
                </a:cubicBezTo>
                <a:close/>
              </a:path>
            </a:pathLst>
          </a:custGeom>
          <a:solidFill>
            <a:srgbClr val="018090"/>
          </a:solidFill>
          <a:ln w="0">
            <a:noFill/>
          </a:ln>
        </p:spPr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4" name=""/>
          <p:cNvSpPr txBox="1"/>
          <p:nvPr/>
        </p:nvSpPr>
        <p:spPr>
          <a:xfrm>
            <a:off x="749880" y="1755720"/>
            <a:ext cx="384120" cy="3841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ctr"/>
            <a:r>
              <a:rPr b="1" lang="en-US" sz="1400" spc="-1" strike="noStrike">
                <a:solidFill>
                  <a:srgbClr val="ffffff"/>
                </a:solidFill>
                <a:latin typeface="Calibri-Bold"/>
                <a:ea typeface="Calibri-Bold"/>
              </a:rPr>
              <a:t>1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" name=""/>
          <p:cNvSpPr txBox="1"/>
          <p:nvPr/>
        </p:nvSpPr>
        <p:spPr>
          <a:xfrm>
            <a:off x="1280160" y="1719000"/>
            <a:ext cx="246888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1400" spc="-1" strike="noStrike">
                <a:solidFill>
                  <a:srgbClr val="212b3c"/>
                </a:solidFill>
                <a:latin typeface="Calibri-Bold"/>
                <a:ea typeface="Calibri-Bold"/>
              </a:rPr>
              <a:t>Frontend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" name=""/>
          <p:cNvSpPr txBox="1"/>
          <p:nvPr/>
        </p:nvSpPr>
        <p:spPr>
          <a:xfrm>
            <a:off x="822960" y="2304360"/>
            <a:ext cx="2880360" cy="5486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100" spc="-1" strike="noStrike">
                <a:solidFill>
                  <a:srgbClr val="6a7586"/>
                </a:solidFill>
                <a:latin typeface="Calibri"/>
                <a:ea typeface="Calibri"/>
              </a:rPr>
              <a:t>localhost:3000 · Chrome / Firefox / Edge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" name=""/>
          <p:cNvSpPr/>
          <p:nvPr/>
        </p:nvSpPr>
        <p:spPr>
          <a:xfrm>
            <a:off x="4160520" y="1554480"/>
            <a:ext cx="3383640" cy="1371960"/>
          </a:xfrm>
          <a:custGeom>
            <a:avLst/>
            <a:gdLst/>
            <a:ahLst/>
            <a:rect l="0" t="0" r="r" b="b"/>
            <a:pathLst>
              <a:path w="9399" h="3811">
                <a:moveTo>
                  <a:pt x="9196" y="0"/>
                </a:moveTo>
                <a:cubicBezTo>
                  <a:pt x="9331" y="0"/>
                  <a:pt x="9399" y="68"/>
                  <a:pt x="9399" y="203"/>
                </a:cubicBezTo>
                <a:lnTo>
                  <a:pt x="9399" y="3608"/>
                </a:lnTo>
                <a:cubicBezTo>
                  <a:pt x="9399" y="3743"/>
                  <a:pt x="9331" y="3811"/>
                  <a:pt x="9196" y="3811"/>
                </a:cubicBezTo>
                <a:lnTo>
                  <a:pt x="203" y="3811"/>
                </a:lnTo>
                <a:cubicBezTo>
                  <a:pt x="68" y="3811"/>
                  <a:pt x="0" y="3743"/>
                  <a:pt x="0" y="3608"/>
                </a:cubicBezTo>
                <a:lnTo>
                  <a:pt x="0" y="203"/>
                </a:lnTo>
                <a:cubicBezTo>
                  <a:pt x="0" y="68"/>
                  <a:pt x="68" y="0"/>
                  <a:pt x="203" y="0"/>
                </a:cubicBezTo>
                <a:lnTo>
                  <a:pt x="9196" y="0"/>
                </a:lnTo>
                <a:close/>
              </a:path>
            </a:pathLst>
          </a:custGeom>
          <a:solidFill>
            <a:srgbClr val="ffffff"/>
          </a:solidFill>
          <a:ln w="12600">
            <a:solidFill>
              <a:srgbClr val="e3e8f0"/>
            </a:solidFill>
            <a:round/>
          </a:ln>
        </p:spPr>
        <p:txBody>
          <a:bodyPr lIns="96120" rIns="96120" tIns="51120" bIns="5112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" name=""/>
          <p:cNvSpPr/>
          <p:nvPr/>
        </p:nvSpPr>
        <p:spPr>
          <a:xfrm>
            <a:off x="4361760" y="1755720"/>
            <a:ext cx="384480" cy="384480"/>
          </a:xfrm>
          <a:custGeom>
            <a:avLst/>
            <a:gdLst/>
            <a:ahLst/>
            <a:rect l="0" t="0" r="r" b="b"/>
            <a:pathLst>
              <a:path w="1068" h="1068">
                <a:moveTo>
                  <a:pt x="912" y="156"/>
                </a:moveTo>
                <a:cubicBezTo>
                  <a:pt x="1120" y="365"/>
                  <a:pt x="1120" y="703"/>
                  <a:pt x="912" y="912"/>
                </a:cubicBezTo>
                <a:cubicBezTo>
                  <a:pt x="703" y="1120"/>
                  <a:pt x="365" y="1120"/>
                  <a:pt x="156" y="912"/>
                </a:cubicBezTo>
                <a:cubicBezTo>
                  <a:pt x="-52" y="703"/>
                  <a:pt x="-52" y="365"/>
                  <a:pt x="156" y="156"/>
                </a:cubicBezTo>
                <a:cubicBezTo>
                  <a:pt x="365" y="-52"/>
                  <a:pt x="703" y="-52"/>
                  <a:pt x="912" y="156"/>
                </a:cubicBezTo>
                <a:close/>
              </a:path>
            </a:pathLst>
          </a:custGeom>
          <a:solidFill>
            <a:srgbClr val="1d2660"/>
          </a:solidFill>
          <a:ln w="0">
            <a:noFill/>
          </a:ln>
        </p:spPr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9" name=""/>
          <p:cNvSpPr txBox="1"/>
          <p:nvPr/>
        </p:nvSpPr>
        <p:spPr>
          <a:xfrm>
            <a:off x="4361760" y="1755720"/>
            <a:ext cx="384120" cy="3841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ctr"/>
            <a:r>
              <a:rPr b="1" lang="en-US" sz="1400" spc="-1" strike="noStrike">
                <a:solidFill>
                  <a:srgbClr val="ffffff"/>
                </a:solidFill>
                <a:latin typeface="Calibri-Bold"/>
                <a:ea typeface="Calibri-Bold"/>
              </a:rPr>
              <a:t>2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" name=""/>
          <p:cNvSpPr txBox="1"/>
          <p:nvPr/>
        </p:nvSpPr>
        <p:spPr>
          <a:xfrm>
            <a:off x="4892040" y="1719000"/>
            <a:ext cx="246888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1400" spc="-1" strike="noStrike">
                <a:solidFill>
                  <a:srgbClr val="212b3c"/>
                </a:solidFill>
                <a:latin typeface="Calibri-Bold"/>
                <a:ea typeface="Calibri-Bold"/>
              </a:rPr>
              <a:t>Backend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" name=""/>
          <p:cNvSpPr txBox="1"/>
          <p:nvPr/>
        </p:nvSpPr>
        <p:spPr>
          <a:xfrm>
            <a:off x="4434840" y="2304360"/>
            <a:ext cx="2880360" cy="5486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100" spc="-1" strike="noStrike">
                <a:solidFill>
                  <a:srgbClr val="6a7586"/>
                </a:solidFill>
                <a:latin typeface="Calibri"/>
                <a:ea typeface="Calibri"/>
              </a:rPr>
              <a:t>localhost:8000 · FastAPI /docs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" name=""/>
          <p:cNvSpPr/>
          <p:nvPr/>
        </p:nvSpPr>
        <p:spPr>
          <a:xfrm>
            <a:off x="7772400" y="1554480"/>
            <a:ext cx="3383640" cy="1371960"/>
          </a:xfrm>
          <a:custGeom>
            <a:avLst/>
            <a:gdLst/>
            <a:ahLst/>
            <a:rect l="0" t="0" r="r" b="b"/>
            <a:pathLst>
              <a:path w="9399" h="3811">
                <a:moveTo>
                  <a:pt x="9196" y="0"/>
                </a:moveTo>
                <a:cubicBezTo>
                  <a:pt x="9331" y="0"/>
                  <a:pt x="9399" y="68"/>
                  <a:pt x="9399" y="203"/>
                </a:cubicBezTo>
                <a:lnTo>
                  <a:pt x="9399" y="3608"/>
                </a:lnTo>
                <a:cubicBezTo>
                  <a:pt x="9399" y="3743"/>
                  <a:pt x="9331" y="3811"/>
                  <a:pt x="9196" y="3811"/>
                </a:cubicBezTo>
                <a:lnTo>
                  <a:pt x="203" y="3811"/>
                </a:lnTo>
                <a:cubicBezTo>
                  <a:pt x="68" y="3811"/>
                  <a:pt x="0" y="3743"/>
                  <a:pt x="0" y="3608"/>
                </a:cubicBezTo>
                <a:lnTo>
                  <a:pt x="0" y="203"/>
                </a:lnTo>
                <a:cubicBezTo>
                  <a:pt x="0" y="68"/>
                  <a:pt x="68" y="0"/>
                  <a:pt x="203" y="0"/>
                </a:cubicBezTo>
                <a:lnTo>
                  <a:pt x="9196" y="0"/>
                </a:lnTo>
                <a:close/>
              </a:path>
            </a:pathLst>
          </a:custGeom>
          <a:solidFill>
            <a:srgbClr val="ffffff"/>
          </a:solidFill>
          <a:ln w="12600">
            <a:solidFill>
              <a:srgbClr val="e3e8f0"/>
            </a:solidFill>
            <a:round/>
          </a:ln>
        </p:spPr>
        <p:txBody>
          <a:bodyPr lIns="96120" rIns="96120" tIns="51120" bIns="5112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3" name=""/>
          <p:cNvSpPr/>
          <p:nvPr/>
        </p:nvSpPr>
        <p:spPr>
          <a:xfrm>
            <a:off x="7973640" y="1755720"/>
            <a:ext cx="384480" cy="384480"/>
          </a:xfrm>
          <a:custGeom>
            <a:avLst/>
            <a:gdLst/>
            <a:ahLst/>
            <a:rect l="0" t="0" r="r" b="b"/>
            <a:pathLst>
              <a:path w="1068" h="1068">
                <a:moveTo>
                  <a:pt x="912" y="156"/>
                </a:moveTo>
                <a:cubicBezTo>
                  <a:pt x="1120" y="365"/>
                  <a:pt x="1120" y="703"/>
                  <a:pt x="912" y="912"/>
                </a:cubicBezTo>
                <a:cubicBezTo>
                  <a:pt x="703" y="1120"/>
                  <a:pt x="365" y="1120"/>
                  <a:pt x="156" y="912"/>
                </a:cubicBezTo>
                <a:cubicBezTo>
                  <a:pt x="-52" y="703"/>
                  <a:pt x="-52" y="365"/>
                  <a:pt x="156" y="156"/>
                </a:cubicBezTo>
                <a:cubicBezTo>
                  <a:pt x="365" y="-52"/>
                  <a:pt x="703" y="-52"/>
                  <a:pt x="912" y="156"/>
                </a:cubicBezTo>
                <a:close/>
              </a:path>
            </a:pathLst>
          </a:custGeom>
          <a:solidFill>
            <a:srgbClr val="018090"/>
          </a:solidFill>
          <a:ln w="0">
            <a:noFill/>
          </a:ln>
        </p:spPr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4" name=""/>
          <p:cNvSpPr txBox="1"/>
          <p:nvPr/>
        </p:nvSpPr>
        <p:spPr>
          <a:xfrm>
            <a:off x="7973640" y="1755720"/>
            <a:ext cx="384120" cy="3841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ctr"/>
            <a:r>
              <a:rPr b="1" lang="en-US" sz="1400" spc="-1" strike="noStrike">
                <a:solidFill>
                  <a:srgbClr val="ffffff"/>
                </a:solidFill>
                <a:latin typeface="Calibri-Bold"/>
                <a:ea typeface="Calibri-Bold"/>
              </a:rPr>
              <a:t>3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5" name=""/>
          <p:cNvSpPr txBox="1"/>
          <p:nvPr/>
        </p:nvSpPr>
        <p:spPr>
          <a:xfrm>
            <a:off x="8503920" y="1719000"/>
            <a:ext cx="246888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1400" spc="-1" strike="noStrike">
                <a:solidFill>
                  <a:srgbClr val="212b3c"/>
                </a:solidFill>
                <a:latin typeface="Calibri-Bold"/>
                <a:ea typeface="Calibri-Bold"/>
              </a:rPr>
              <a:t>API Testing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6" name=""/>
          <p:cNvSpPr txBox="1"/>
          <p:nvPr/>
        </p:nvSpPr>
        <p:spPr>
          <a:xfrm>
            <a:off x="8046720" y="2304360"/>
            <a:ext cx="2880360" cy="5486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100" spc="-1" strike="noStrike">
                <a:solidFill>
                  <a:srgbClr val="6a7586"/>
                </a:solidFill>
                <a:latin typeface="Calibri"/>
                <a:ea typeface="Calibri"/>
              </a:rPr>
              <a:t>Postman / curl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7" name=""/>
          <p:cNvSpPr/>
          <p:nvPr/>
        </p:nvSpPr>
        <p:spPr>
          <a:xfrm>
            <a:off x="548640" y="3154680"/>
            <a:ext cx="3383640" cy="1371960"/>
          </a:xfrm>
          <a:custGeom>
            <a:avLst/>
            <a:gdLst/>
            <a:ahLst/>
            <a:rect l="0" t="0" r="r" b="b"/>
            <a:pathLst>
              <a:path w="9399" h="3811">
                <a:moveTo>
                  <a:pt x="9196" y="0"/>
                </a:moveTo>
                <a:cubicBezTo>
                  <a:pt x="9331" y="0"/>
                  <a:pt x="9399" y="68"/>
                  <a:pt x="9399" y="203"/>
                </a:cubicBezTo>
                <a:lnTo>
                  <a:pt x="9399" y="3607"/>
                </a:lnTo>
                <a:cubicBezTo>
                  <a:pt x="9399" y="3743"/>
                  <a:pt x="9331" y="3811"/>
                  <a:pt x="9196" y="3811"/>
                </a:cubicBezTo>
                <a:lnTo>
                  <a:pt x="203" y="3811"/>
                </a:lnTo>
                <a:cubicBezTo>
                  <a:pt x="68" y="3811"/>
                  <a:pt x="0" y="3743"/>
                  <a:pt x="0" y="3607"/>
                </a:cubicBezTo>
                <a:lnTo>
                  <a:pt x="0" y="203"/>
                </a:lnTo>
                <a:cubicBezTo>
                  <a:pt x="0" y="68"/>
                  <a:pt x="68" y="0"/>
                  <a:pt x="203" y="0"/>
                </a:cubicBezTo>
                <a:lnTo>
                  <a:pt x="9196" y="0"/>
                </a:lnTo>
                <a:close/>
              </a:path>
            </a:pathLst>
          </a:custGeom>
          <a:solidFill>
            <a:srgbClr val="ffffff"/>
          </a:solidFill>
          <a:ln w="12600">
            <a:solidFill>
              <a:srgbClr val="e3e8f0"/>
            </a:solidFill>
            <a:round/>
          </a:ln>
        </p:spPr>
        <p:txBody>
          <a:bodyPr lIns="96120" rIns="96120" tIns="51120" bIns="5112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8" name=""/>
          <p:cNvSpPr/>
          <p:nvPr/>
        </p:nvSpPr>
        <p:spPr>
          <a:xfrm>
            <a:off x="749880" y="3355920"/>
            <a:ext cx="384480" cy="384480"/>
          </a:xfrm>
          <a:custGeom>
            <a:avLst/>
            <a:gdLst/>
            <a:ahLst/>
            <a:rect l="0" t="0" r="r" b="b"/>
            <a:pathLst>
              <a:path w="1068" h="1068">
                <a:moveTo>
                  <a:pt x="912" y="156"/>
                </a:moveTo>
                <a:cubicBezTo>
                  <a:pt x="1120" y="365"/>
                  <a:pt x="1120" y="703"/>
                  <a:pt x="912" y="912"/>
                </a:cubicBezTo>
                <a:cubicBezTo>
                  <a:pt x="703" y="1120"/>
                  <a:pt x="365" y="1120"/>
                  <a:pt x="156" y="912"/>
                </a:cubicBezTo>
                <a:cubicBezTo>
                  <a:pt x="-52" y="703"/>
                  <a:pt x="-52" y="365"/>
                  <a:pt x="156" y="156"/>
                </a:cubicBezTo>
                <a:cubicBezTo>
                  <a:pt x="365" y="-52"/>
                  <a:pt x="703" y="-52"/>
                  <a:pt x="912" y="156"/>
                </a:cubicBezTo>
                <a:close/>
              </a:path>
            </a:pathLst>
          </a:custGeom>
          <a:solidFill>
            <a:srgbClr val="1d2660"/>
          </a:solidFill>
          <a:ln w="0">
            <a:noFill/>
          </a:ln>
        </p:spPr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9" name=""/>
          <p:cNvSpPr txBox="1"/>
          <p:nvPr/>
        </p:nvSpPr>
        <p:spPr>
          <a:xfrm>
            <a:off x="749880" y="3355920"/>
            <a:ext cx="384120" cy="3841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ctr"/>
            <a:r>
              <a:rPr b="1" lang="en-US" sz="1400" spc="-1" strike="noStrike">
                <a:solidFill>
                  <a:srgbClr val="ffffff"/>
                </a:solidFill>
                <a:latin typeface="Calibri-Bold"/>
                <a:ea typeface="Calibri-Bold"/>
              </a:rPr>
              <a:t>4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0" name=""/>
          <p:cNvSpPr txBox="1"/>
          <p:nvPr/>
        </p:nvSpPr>
        <p:spPr>
          <a:xfrm>
            <a:off x="1280160" y="3319200"/>
            <a:ext cx="246888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1400" spc="-1" strike="noStrike">
                <a:solidFill>
                  <a:srgbClr val="212b3c"/>
                </a:solidFill>
                <a:latin typeface="Calibri-Bold"/>
                <a:ea typeface="Calibri-Bold"/>
              </a:rPr>
              <a:t>LLM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1" name=""/>
          <p:cNvSpPr txBox="1"/>
          <p:nvPr/>
        </p:nvSpPr>
        <p:spPr>
          <a:xfrm>
            <a:off x="822960" y="3904560"/>
            <a:ext cx="2880360" cy="5486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100" spc="-1" strike="noStrike">
                <a:solidFill>
                  <a:srgbClr val="6a7586"/>
                </a:solidFill>
                <a:latin typeface="Calibri"/>
                <a:ea typeface="Calibri"/>
              </a:rPr>
              <a:t>Ollama Pro (local model)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2" name=""/>
          <p:cNvSpPr/>
          <p:nvPr/>
        </p:nvSpPr>
        <p:spPr>
          <a:xfrm>
            <a:off x="4160520" y="3154680"/>
            <a:ext cx="3383640" cy="1371960"/>
          </a:xfrm>
          <a:custGeom>
            <a:avLst/>
            <a:gdLst/>
            <a:ahLst/>
            <a:rect l="0" t="0" r="r" b="b"/>
            <a:pathLst>
              <a:path w="9399" h="3811">
                <a:moveTo>
                  <a:pt x="9196" y="0"/>
                </a:moveTo>
                <a:cubicBezTo>
                  <a:pt x="9331" y="0"/>
                  <a:pt x="9399" y="68"/>
                  <a:pt x="9399" y="203"/>
                </a:cubicBezTo>
                <a:lnTo>
                  <a:pt x="9399" y="3607"/>
                </a:lnTo>
                <a:cubicBezTo>
                  <a:pt x="9399" y="3743"/>
                  <a:pt x="9331" y="3811"/>
                  <a:pt x="9196" y="3811"/>
                </a:cubicBezTo>
                <a:lnTo>
                  <a:pt x="203" y="3811"/>
                </a:lnTo>
                <a:cubicBezTo>
                  <a:pt x="68" y="3811"/>
                  <a:pt x="0" y="3743"/>
                  <a:pt x="0" y="3607"/>
                </a:cubicBezTo>
                <a:lnTo>
                  <a:pt x="0" y="203"/>
                </a:lnTo>
                <a:cubicBezTo>
                  <a:pt x="0" y="68"/>
                  <a:pt x="68" y="0"/>
                  <a:pt x="203" y="0"/>
                </a:cubicBezTo>
                <a:lnTo>
                  <a:pt x="9196" y="0"/>
                </a:lnTo>
                <a:close/>
              </a:path>
            </a:pathLst>
          </a:custGeom>
          <a:solidFill>
            <a:srgbClr val="ffffff"/>
          </a:solidFill>
          <a:ln w="12600">
            <a:solidFill>
              <a:srgbClr val="e3e8f0"/>
            </a:solidFill>
            <a:round/>
          </a:ln>
        </p:spPr>
        <p:txBody>
          <a:bodyPr lIns="96120" rIns="96120" tIns="51120" bIns="5112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3" name=""/>
          <p:cNvSpPr/>
          <p:nvPr/>
        </p:nvSpPr>
        <p:spPr>
          <a:xfrm>
            <a:off x="4361760" y="3355920"/>
            <a:ext cx="384480" cy="384480"/>
          </a:xfrm>
          <a:custGeom>
            <a:avLst/>
            <a:gdLst/>
            <a:ahLst/>
            <a:rect l="0" t="0" r="r" b="b"/>
            <a:pathLst>
              <a:path w="1068" h="1068">
                <a:moveTo>
                  <a:pt x="912" y="156"/>
                </a:moveTo>
                <a:cubicBezTo>
                  <a:pt x="1120" y="365"/>
                  <a:pt x="1120" y="703"/>
                  <a:pt x="912" y="912"/>
                </a:cubicBezTo>
                <a:cubicBezTo>
                  <a:pt x="703" y="1120"/>
                  <a:pt x="365" y="1120"/>
                  <a:pt x="156" y="912"/>
                </a:cubicBezTo>
                <a:cubicBezTo>
                  <a:pt x="-52" y="703"/>
                  <a:pt x="-52" y="365"/>
                  <a:pt x="156" y="156"/>
                </a:cubicBezTo>
                <a:cubicBezTo>
                  <a:pt x="365" y="-52"/>
                  <a:pt x="703" y="-52"/>
                  <a:pt x="912" y="156"/>
                </a:cubicBezTo>
                <a:close/>
              </a:path>
            </a:pathLst>
          </a:custGeom>
          <a:solidFill>
            <a:srgbClr val="018090"/>
          </a:solidFill>
          <a:ln w="0">
            <a:noFill/>
          </a:ln>
        </p:spPr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4" name=""/>
          <p:cNvSpPr txBox="1"/>
          <p:nvPr/>
        </p:nvSpPr>
        <p:spPr>
          <a:xfrm>
            <a:off x="4361760" y="3355920"/>
            <a:ext cx="384120" cy="3841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ctr"/>
            <a:r>
              <a:rPr b="1" lang="en-US" sz="1400" spc="-1" strike="noStrike">
                <a:solidFill>
                  <a:srgbClr val="ffffff"/>
                </a:solidFill>
                <a:latin typeface="Calibri-Bold"/>
                <a:ea typeface="Calibri-Bold"/>
              </a:rPr>
              <a:t>5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5" name=""/>
          <p:cNvSpPr txBox="1"/>
          <p:nvPr/>
        </p:nvSpPr>
        <p:spPr>
          <a:xfrm>
            <a:off x="4892040" y="3319200"/>
            <a:ext cx="246888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1400" spc="-1" strike="noStrike">
                <a:solidFill>
                  <a:srgbClr val="212b3c"/>
                </a:solidFill>
                <a:latin typeface="Calibri-Bold"/>
                <a:ea typeface="Calibri-Bold"/>
              </a:rPr>
              <a:t>Bug Tracking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6" name=""/>
          <p:cNvSpPr txBox="1"/>
          <p:nvPr/>
        </p:nvSpPr>
        <p:spPr>
          <a:xfrm>
            <a:off x="4434840" y="3904560"/>
            <a:ext cx="2880360" cy="5486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100" spc="-1" strike="noStrike">
                <a:solidFill>
                  <a:srgbClr val="6a7586"/>
                </a:solidFill>
                <a:latin typeface="Calibri"/>
                <a:ea typeface="Calibri"/>
              </a:rPr>
              <a:t>GitHub Issues, labeled by feature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7" name=""/>
          <p:cNvSpPr/>
          <p:nvPr/>
        </p:nvSpPr>
        <p:spPr>
          <a:xfrm>
            <a:off x="7772400" y="3154680"/>
            <a:ext cx="3383640" cy="1371960"/>
          </a:xfrm>
          <a:custGeom>
            <a:avLst/>
            <a:gdLst/>
            <a:ahLst/>
            <a:rect l="0" t="0" r="r" b="b"/>
            <a:pathLst>
              <a:path w="9399" h="3811">
                <a:moveTo>
                  <a:pt x="9196" y="0"/>
                </a:moveTo>
                <a:cubicBezTo>
                  <a:pt x="9331" y="0"/>
                  <a:pt x="9399" y="68"/>
                  <a:pt x="9399" y="203"/>
                </a:cubicBezTo>
                <a:lnTo>
                  <a:pt x="9399" y="3607"/>
                </a:lnTo>
                <a:cubicBezTo>
                  <a:pt x="9399" y="3743"/>
                  <a:pt x="9331" y="3811"/>
                  <a:pt x="9196" y="3811"/>
                </a:cubicBezTo>
                <a:lnTo>
                  <a:pt x="203" y="3811"/>
                </a:lnTo>
                <a:cubicBezTo>
                  <a:pt x="68" y="3811"/>
                  <a:pt x="0" y="3743"/>
                  <a:pt x="0" y="3607"/>
                </a:cubicBezTo>
                <a:lnTo>
                  <a:pt x="0" y="203"/>
                </a:lnTo>
                <a:cubicBezTo>
                  <a:pt x="0" y="68"/>
                  <a:pt x="68" y="0"/>
                  <a:pt x="203" y="0"/>
                </a:cubicBezTo>
                <a:lnTo>
                  <a:pt x="9196" y="0"/>
                </a:lnTo>
                <a:close/>
              </a:path>
            </a:pathLst>
          </a:custGeom>
          <a:solidFill>
            <a:srgbClr val="ffffff"/>
          </a:solidFill>
          <a:ln w="12600">
            <a:solidFill>
              <a:srgbClr val="e3e8f0"/>
            </a:solidFill>
            <a:round/>
          </a:ln>
        </p:spPr>
        <p:txBody>
          <a:bodyPr lIns="96120" rIns="96120" tIns="51120" bIns="5112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8" name=""/>
          <p:cNvSpPr/>
          <p:nvPr/>
        </p:nvSpPr>
        <p:spPr>
          <a:xfrm>
            <a:off x="7973640" y="3355920"/>
            <a:ext cx="384480" cy="384480"/>
          </a:xfrm>
          <a:custGeom>
            <a:avLst/>
            <a:gdLst/>
            <a:ahLst/>
            <a:rect l="0" t="0" r="r" b="b"/>
            <a:pathLst>
              <a:path w="1068" h="1068">
                <a:moveTo>
                  <a:pt x="912" y="156"/>
                </a:moveTo>
                <a:cubicBezTo>
                  <a:pt x="1120" y="365"/>
                  <a:pt x="1120" y="703"/>
                  <a:pt x="912" y="912"/>
                </a:cubicBezTo>
                <a:cubicBezTo>
                  <a:pt x="703" y="1120"/>
                  <a:pt x="365" y="1120"/>
                  <a:pt x="156" y="912"/>
                </a:cubicBezTo>
                <a:cubicBezTo>
                  <a:pt x="-52" y="703"/>
                  <a:pt x="-52" y="365"/>
                  <a:pt x="156" y="156"/>
                </a:cubicBezTo>
                <a:cubicBezTo>
                  <a:pt x="365" y="-52"/>
                  <a:pt x="703" y="-52"/>
                  <a:pt x="912" y="156"/>
                </a:cubicBezTo>
                <a:close/>
              </a:path>
            </a:pathLst>
          </a:custGeom>
          <a:solidFill>
            <a:srgbClr val="1d2660"/>
          </a:solidFill>
          <a:ln w="0">
            <a:noFill/>
          </a:ln>
        </p:spPr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9" name=""/>
          <p:cNvSpPr txBox="1"/>
          <p:nvPr/>
        </p:nvSpPr>
        <p:spPr>
          <a:xfrm>
            <a:off x="7973640" y="3355920"/>
            <a:ext cx="384120" cy="3841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ctr"/>
            <a:r>
              <a:rPr b="1" lang="en-US" sz="1400" spc="-1" strike="noStrike">
                <a:solidFill>
                  <a:srgbClr val="ffffff"/>
                </a:solidFill>
                <a:latin typeface="Calibri-Bold"/>
                <a:ea typeface="Calibri-Bold"/>
              </a:rPr>
              <a:t>6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0" name=""/>
          <p:cNvSpPr txBox="1"/>
          <p:nvPr/>
        </p:nvSpPr>
        <p:spPr>
          <a:xfrm>
            <a:off x="8503920" y="3319200"/>
            <a:ext cx="246888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1400" spc="-1" strike="noStrike">
                <a:solidFill>
                  <a:srgbClr val="212b3c"/>
                </a:solidFill>
                <a:latin typeface="Calibri-Bold"/>
                <a:ea typeface="Calibri-Bold"/>
              </a:rPr>
              <a:t>Case Tracking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1" name=""/>
          <p:cNvSpPr txBox="1"/>
          <p:nvPr/>
        </p:nvSpPr>
        <p:spPr>
          <a:xfrm>
            <a:off x="8046720" y="3904560"/>
            <a:ext cx="2880360" cy="5486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100" spc="-1" strike="noStrike">
                <a:solidFill>
                  <a:srgbClr val="6a7586"/>
                </a:solidFill>
                <a:latin typeface="Calibri"/>
                <a:ea typeface="Calibri"/>
              </a:rPr>
              <a:t>Test Plan doc + shared status sheet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2" name=""/>
          <p:cNvSpPr txBox="1"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000" spc="-1" strike="noStrike">
                <a:solidFill>
                  <a:srgbClr val="6a7586"/>
                </a:solidFill>
                <a:latin typeface="Calibri"/>
                <a:ea typeface="Calibri"/>
              </a:rPr>
              <a:t>CampusAI — QA &amp; Testing Plan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3" name=""/>
          <p:cNvSpPr txBox="1"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r"/>
            <a:r>
              <a:rPr b="0" lang="en-US" sz="1000" spc="-1" strike="noStrike">
                <a:solidFill>
                  <a:srgbClr val="6a7586"/>
                </a:solidFill>
                <a:latin typeface="Calibri"/>
                <a:ea typeface="Calibri"/>
              </a:rPr>
              <a:t>6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"/>
          <p:cNvSpPr txBox="1"/>
          <p:nvPr/>
        </p:nvSpPr>
        <p:spPr>
          <a:xfrm>
            <a:off x="548640" y="411480"/>
            <a:ext cx="7315200" cy="5486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3000" spc="-1" strike="noStrike">
                <a:solidFill>
                  <a:srgbClr val="1d2660"/>
                </a:solidFill>
                <a:latin typeface="Cambria"/>
                <a:ea typeface="Cambria"/>
              </a:rPr>
              <a:t>Testing Timeline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5" name=""/>
          <p:cNvSpPr txBox="1"/>
          <p:nvPr/>
        </p:nvSpPr>
        <p:spPr>
          <a:xfrm>
            <a:off x="548640" y="960120"/>
            <a:ext cx="10058400" cy="3657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500" spc="-1" strike="noStrike">
                <a:solidFill>
                  <a:srgbClr val="6a7586"/>
                </a:solidFill>
                <a:latin typeface="Calibri"/>
                <a:ea typeface="Calibri"/>
              </a:rPr>
              <a:t>QA activities mapped to the team's five project meetings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6" name=""/>
          <p:cNvSpPr/>
          <p:nvPr/>
        </p:nvSpPr>
        <p:spPr>
          <a:xfrm>
            <a:off x="1143000" y="2697480"/>
            <a:ext cx="9902880" cy="0"/>
          </a:xfrm>
          <a:prstGeom prst="line">
            <a:avLst/>
          </a:prstGeom>
          <a:ln w="38160">
            <a:solidFill>
              <a:srgbClr val="cadcf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9080" rIns="109080" tIns="-64080" bIns="-6408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7" name=""/>
          <p:cNvSpPr/>
          <p:nvPr/>
        </p:nvSpPr>
        <p:spPr>
          <a:xfrm>
            <a:off x="822960" y="2377440"/>
            <a:ext cx="640080" cy="640080"/>
          </a:xfrm>
          <a:custGeom>
            <a:avLst/>
            <a:gdLst/>
            <a:ahLst/>
            <a:rect l="0" t="0" r="r" b="b"/>
            <a:pathLst>
              <a:path w="1778" h="1778">
                <a:moveTo>
                  <a:pt x="1518" y="260"/>
                </a:moveTo>
                <a:cubicBezTo>
                  <a:pt x="1865" y="607"/>
                  <a:pt x="1865" y="1171"/>
                  <a:pt x="1518" y="1518"/>
                </a:cubicBezTo>
                <a:cubicBezTo>
                  <a:pt x="1171" y="1865"/>
                  <a:pt x="607" y="1865"/>
                  <a:pt x="260" y="1518"/>
                </a:cubicBezTo>
                <a:cubicBezTo>
                  <a:pt x="-86" y="1171"/>
                  <a:pt x="-86" y="607"/>
                  <a:pt x="260" y="260"/>
                </a:cubicBezTo>
                <a:cubicBezTo>
                  <a:pt x="607" y="-86"/>
                  <a:pt x="1171" y="-86"/>
                  <a:pt x="1518" y="260"/>
                </a:cubicBezTo>
                <a:close/>
              </a:path>
            </a:pathLst>
          </a:custGeom>
          <a:solidFill>
            <a:srgbClr val="01c39a"/>
          </a:solidFill>
          <a:ln w="0">
            <a:noFill/>
          </a:ln>
        </p:spPr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8" name=""/>
          <p:cNvSpPr txBox="1"/>
          <p:nvPr/>
        </p:nvSpPr>
        <p:spPr>
          <a:xfrm>
            <a:off x="822960" y="2377440"/>
            <a:ext cx="640080" cy="640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ctr"/>
            <a:r>
              <a:rPr b="1" lang="en-US" sz="1800" spc="-1" strike="noStrike">
                <a:solidFill>
                  <a:srgbClr val="ffffff"/>
                </a:solidFill>
                <a:latin typeface="Calibri-Bold"/>
                <a:ea typeface="Calibri-Bold"/>
              </a:rPr>
              <a:t>2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9" name=""/>
          <p:cNvSpPr txBox="1"/>
          <p:nvPr/>
        </p:nvSpPr>
        <p:spPr>
          <a:xfrm>
            <a:off x="320040" y="3154680"/>
            <a:ext cx="1645920" cy="320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ctr"/>
            <a:r>
              <a:rPr b="1" lang="en-US" sz="1400" spc="-1" strike="noStrike">
                <a:solidFill>
                  <a:srgbClr val="1d2660"/>
                </a:solidFill>
                <a:latin typeface="Calibri-Bold"/>
                <a:ea typeface="Calibri-Bold"/>
              </a:rPr>
              <a:t>Meeting 2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0" name=""/>
          <p:cNvSpPr txBox="1"/>
          <p:nvPr/>
        </p:nvSpPr>
        <p:spPr>
          <a:xfrm>
            <a:off x="-45720" y="3520440"/>
            <a:ext cx="2377440" cy="1371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ctr"/>
            <a:r>
              <a:rPr b="0" lang="en-US" sz="1100" spc="-1" strike="noStrike">
                <a:solidFill>
                  <a:srgbClr val="6a7586"/>
                </a:solidFill>
                <a:latin typeface="Calibri"/>
                <a:ea typeface="Calibri"/>
              </a:rPr>
              <a:t>Finalize test plan, GitHub labels, smoke-test skeleton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1" name=""/>
          <p:cNvSpPr/>
          <p:nvPr/>
        </p:nvSpPr>
        <p:spPr>
          <a:xfrm>
            <a:off x="4337280" y="2377440"/>
            <a:ext cx="640080" cy="640080"/>
          </a:xfrm>
          <a:custGeom>
            <a:avLst/>
            <a:gdLst/>
            <a:ahLst/>
            <a:rect l="0" t="0" r="r" b="b"/>
            <a:pathLst>
              <a:path w="1778" h="1778">
                <a:moveTo>
                  <a:pt x="1518" y="260"/>
                </a:moveTo>
                <a:cubicBezTo>
                  <a:pt x="1865" y="607"/>
                  <a:pt x="1865" y="1171"/>
                  <a:pt x="1518" y="1518"/>
                </a:cubicBezTo>
                <a:cubicBezTo>
                  <a:pt x="1171" y="1865"/>
                  <a:pt x="607" y="1865"/>
                  <a:pt x="260" y="1518"/>
                </a:cubicBezTo>
                <a:cubicBezTo>
                  <a:pt x="-86" y="1171"/>
                  <a:pt x="-86" y="607"/>
                  <a:pt x="260" y="260"/>
                </a:cubicBezTo>
                <a:cubicBezTo>
                  <a:pt x="607" y="-86"/>
                  <a:pt x="1171" y="-86"/>
                  <a:pt x="1518" y="260"/>
                </a:cubicBezTo>
                <a:close/>
              </a:path>
            </a:pathLst>
          </a:custGeom>
          <a:solidFill>
            <a:srgbClr val="018090"/>
          </a:solidFill>
          <a:ln w="0">
            <a:noFill/>
          </a:ln>
        </p:spPr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2" name=""/>
          <p:cNvSpPr txBox="1"/>
          <p:nvPr/>
        </p:nvSpPr>
        <p:spPr>
          <a:xfrm>
            <a:off x="4337280" y="2377440"/>
            <a:ext cx="640080" cy="640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ctr"/>
            <a:r>
              <a:rPr b="1" lang="en-US" sz="1800" spc="-1" strike="noStrike">
                <a:solidFill>
                  <a:srgbClr val="ffffff"/>
                </a:solidFill>
                <a:latin typeface="Calibri-Bold"/>
                <a:ea typeface="Calibri-Bold"/>
              </a:rPr>
              <a:t>3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3" name=""/>
          <p:cNvSpPr txBox="1"/>
          <p:nvPr/>
        </p:nvSpPr>
        <p:spPr>
          <a:xfrm>
            <a:off x="3834360" y="3154680"/>
            <a:ext cx="1645920" cy="320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ctr"/>
            <a:r>
              <a:rPr b="1" lang="en-US" sz="1400" spc="-1" strike="noStrike">
                <a:solidFill>
                  <a:srgbClr val="1d2660"/>
                </a:solidFill>
                <a:latin typeface="Calibri-Bold"/>
                <a:ea typeface="Calibri-Bold"/>
              </a:rPr>
              <a:t>Meeting 3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4" name=""/>
          <p:cNvSpPr txBox="1"/>
          <p:nvPr/>
        </p:nvSpPr>
        <p:spPr>
          <a:xfrm>
            <a:off x="3468600" y="3520440"/>
            <a:ext cx="2377440" cy="1371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ctr"/>
            <a:r>
              <a:rPr b="0" lang="en-US" sz="1100" spc="-1" strike="noStrike">
                <a:solidFill>
                  <a:srgbClr val="6a7586"/>
                </a:solidFill>
                <a:latin typeface="Calibri"/>
                <a:ea typeface="Calibri"/>
              </a:rPr>
              <a:t>Test RAG pipeline + /api/query as they come online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5" name=""/>
          <p:cNvSpPr/>
          <p:nvPr/>
        </p:nvSpPr>
        <p:spPr>
          <a:xfrm>
            <a:off x="7851600" y="2377440"/>
            <a:ext cx="640080" cy="640080"/>
          </a:xfrm>
          <a:custGeom>
            <a:avLst/>
            <a:gdLst/>
            <a:ahLst/>
            <a:rect l="0" t="0" r="r" b="b"/>
            <a:pathLst>
              <a:path w="1778" h="1778">
                <a:moveTo>
                  <a:pt x="1518" y="260"/>
                </a:moveTo>
                <a:cubicBezTo>
                  <a:pt x="1865" y="607"/>
                  <a:pt x="1865" y="1171"/>
                  <a:pt x="1518" y="1518"/>
                </a:cubicBezTo>
                <a:cubicBezTo>
                  <a:pt x="1171" y="1865"/>
                  <a:pt x="607" y="1865"/>
                  <a:pt x="260" y="1518"/>
                </a:cubicBezTo>
                <a:cubicBezTo>
                  <a:pt x="-86" y="1171"/>
                  <a:pt x="-86" y="607"/>
                  <a:pt x="260" y="260"/>
                </a:cubicBezTo>
                <a:cubicBezTo>
                  <a:pt x="607" y="-86"/>
                  <a:pt x="1171" y="-86"/>
                  <a:pt x="1518" y="260"/>
                </a:cubicBezTo>
                <a:close/>
              </a:path>
            </a:pathLst>
          </a:custGeom>
          <a:solidFill>
            <a:srgbClr val="1d2660"/>
          </a:solidFill>
          <a:ln w="0">
            <a:noFill/>
          </a:ln>
        </p:spPr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6" name=""/>
          <p:cNvSpPr txBox="1"/>
          <p:nvPr/>
        </p:nvSpPr>
        <p:spPr>
          <a:xfrm>
            <a:off x="7851600" y="2377440"/>
            <a:ext cx="640080" cy="640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ctr"/>
            <a:r>
              <a:rPr b="1" lang="en-US" sz="1800" spc="-1" strike="noStrike">
                <a:solidFill>
                  <a:srgbClr val="ffffff"/>
                </a:solidFill>
                <a:latin typeface="Calibri-Bold"/>
                <a:ea typeface="Calibri-Bold"/>
              </a:rPr>
              <a:t>4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7" name=""/>
          <p:cNvSpPr txBox="1"/>
          <p:nvPr/>
        </p:nvSpPr>
        <p:spPr>
          <a:xfrm>
            <a:off x="7348680" y="3154680"/>
            <a:ext cx="1645920" cy="320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ctr"/>
            <a:r>
              <a:rPr b="1" lang="en-US" sz="1400" spc="-1" strike="noStrike">
                <a:solidFill>
                  <a:srgbClr val="1d2660"/>
                </a:solidFill>
                <a:latin typeface="Calibri-Bold"/>
                <a:ea typeface="Calibri-Bold"/>
              </a:rPr>
              <a:t>Meeting 4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8" name=""/>
          <p:cNvSpPr txBox="1"/>
          <p:nvPr/>
        </p:nvSpPr>
        <p:spPr>
          <a:xfrm>
            <a:off x="6982920" y="3520440"/>
            <a:ext cx="2377440" cy="1371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ctr"/>
            <a:r>
              <a:rPr b="0" lang="en-US" sz="1100" spc="-1" strike="noStrike">
                <a:solidFill>
                  <a:srgbClr val="6a7586"/>
                </a:solidFill>
                <a:latin typeface="Calibri"/>
                <a:ea typeface="Calibri"/>
              </a:rPr>
              <a:t>Full functional pass: chat, avatar, TTS, usability test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9" name=""/>
          <p:cNvSpPr/>
          <p:nvPr/>
        </p:nvSpPr>
        <p:spPr>
          <a:xfrm>
            <a:off x="11365920" y="2377440"/>
            <a:ext cx="640080" cy="640080"/>
          </a:xfrm>
          <a:custGeom>
            <a:avLst/>
            <a:gdLst/>
            <a:ahLst/>
            <a:rect l="0" t="0" r="r" b="b"/>
            <a:pathLst>
              <a:path w="1778" h="1778">
                <a:moveTo>
                  <a:pt x="1518" y="260"/>
                </a:moveTo>
                <a:cubicBezTo>
                  <a:pt x="1865" y="607"/>
                  <a:pt x="1865" y="1171"/>
                  <a:pt x="1518" y="1518"/>
                </a:cubicBezTo>
                <a:cubicBezTo>
                  <a:pt x="1171" y="1865"/>
                  <a:pt x="607" y="1865"/>
                  <a:pt x="260" y="1518"/>
                </a:cubicBezTo>
                <a:cubicBezTo>
                  <a:pt x="-86" y="1171"/>
                  <a:pt x="-86" y="607"/>
                  <a:pt x="260" y="260"/>
                </a:cubicBezTo>
                <a:cubicBezTo>
                  <a:pt x="607" y="-86"/>
                  <a:pt x="1171" y="-86"/>
                  <a:pt x="1518" y="260"/>
                </a:cubicBezTo>
                <a:close/>
              </a:path>
            </a:pathLst>
          </a:custGeom>
          <a:solidFill>
            <a:srgbClr val="018090"/>
          </a:solidFill>
          <a:ln w="0">
            <a:noFill/>
          </a:ln>
        </p:spPr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0" name=""/>
          <p:cNvSpPr txBox="1"/>
          <p:nvPr/>
        </p:nvSpPr>
        <p:spPr>
          <a:xfrm>
            <a:off x="11365920" y="2377440"/>
            <a:ext cx="640080" cy="640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ctr"/>
            <a:r>
              <a:rPr b="1" lang="en-US" sz="1800" spc="-1" strike="noStrike">
                <a:solidFill>
                  <a:srgbClr val="ffffff"/>
                </a:solidFill>
                <a:latin typeface="Calibri-Bold"/>
                <a:ea typeface="Calibri-Bold"/>
              </a:rPr>
              <a:t>5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1" name=""/>
          <p:cNvSpPr txBox="1"/>
          <p:nvPr/>
        </p:nvSpPr>
        <p:spPr>
          <a:xfrm>
            <a:off x="10863000" y="3154680"/>
            <a:ext cx="1645920" cy="320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ctr"/>
            <a:r>
              <a:rPr b="1" lang="en-US" sz="1400" spc="-1" strike="noStrike">
                <a:solidFill>
                  <a:srgbClr val="1d2660"/>
                </a:solidFill>
                <a:latin typeface="Calibri-Bold"/>
                <a:ea typeface="Calibri-Bold"/>
              </a:rPr>
              <a:t>Meeting 5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2" name=""/>
          <p:cNvSpPr txBox="1"/>
          <p:nvPr/>
        </p:nvSpPr>
        <p:spPr>
          <a:xfrm>
            <a:off x="10497240" y="3520440"/>
            <a:ext cx="2377440" cy="1371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ctr"/>
            <a:r>
              <a:rPr b="0" lang="en-US" sz="1100" spc="-1" strike="noStrike">
                <a:solidFill>
                  <a:srgbClr val="6a7586"/>
                </a:solidFill>
                <a:latin typeface="Calibri"/>
                <a:ea typeface="Calibri"/>
              </a:rPr>
              <a:t>Final regression, performance check, sign-off, demo rehearsal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3" name=""/>
          <p:cNvSpPr txBox="1"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000" spc="-1" strike="noStrike">
                <a:solidFill>
                  <a:srgbClr val="6a7586"/>
                </a:solidFill>
                <a:latin typeface="Calibri"/>
                <a:ea typeface="Calibri"/>
              </a:rPr>
              <a:t>CampusAI — QA &amp; Testing Plan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4" name=""/>
          <p:cNvSpPr txBox="1"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r"/>
            <a:r>
              <a:rPr b="0" lang="en-US" sz="1000" spc="-1" strike="noStrike">
                <a:solidFill>
                  <a:srgbClr val="6a7586"/>
                </a:solidFill>
                <a:latin typeface="Calibri"/>
                <a:ea typeface="Calibri"/>
              </a:rPr>
              <a:t>7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"/>
          <p:cNvSpPr txBox="1"/>
          <p:nvPr/>
        </p:nvSpPr>
        <p:spPr>
          <a:xfrm>
            <a:off x="548640" y="411480"/>
            <a:ext cx="9144000" cy="5486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3000" spc="-1" strike="noStrike">
                <a:solidFill>
                  <a:srgbClr val="1d2660"/>
                </a:solidFill>
                <a:latin typeface="Cambria"/>
                <a:ea typeface="Cambria"/>
              </a:rPr>
              <a:t>Defect Reporting Process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6" name=""/>
          <p:cNvSpPr/>
          <p:nvPr/>
        </p:nvSpPr>
        <p:spPr>
          <a:xfrm>
            <a:off x="548640" y="2011680"/>
            <a:ext cx="1692000" cy="1646280"/>
          </a:xfrm>
          <a:custGeom>
            <a:avLst/>
            <a:gdLst/>
            <a:ahLst/>
            <a:rect l="0" t="0" r="r" b="b"/>
            <a:pathLst>
              <a:path w="4700" h="4573">
                <a:moveTo>
                  <a:pt x="4497" y="0"/>
                </a:moveTo>
                <a:cubicBezTo>
                  <a:pt x="4632" y="0"/>
                  <a:pt x="4700" y="68"/>
                  <a:pt x="4700" y="203"/>
                </a:cubicBezTo>
                <a:lnTo>
                  <a:pt x="4700" y="4369"/>
                </a:lnTo>
                <a:cubicBezTo>
                  <a:pt x="4700" y="4505"/>
                  <a:pt x="4632" y="4573"/>
                  <a:pt x="4497" y="4573"/>
                </a:cubicBezTo>
                <a:lnTo>
                  <a:pt x="203" y="4573"/>
                </a:lnTo>
                <a:cubicBezTo>
                  <a:pt x="68" y="4573"/>
                  <a:pt x="0" y="4505"/>
                  <a:pt x="0" y="4369"/>
                </a:cubicBezTo>
                <a:lnTo>
                  <a:pt x="0" y="203"/>
                </a:lnTo>
                <a:cubicBezTo>
                  <a:pt x="0" y="68"/>
                  <a:pt x="68" y="0"/>
                  <a:pt x="203" y="0"/>
                </a:cubicBezTo>
                <a:lnTo>
                  <a:pt x="4497" y="0"/>
                </a:lnTo>
                <a:close/>
              </a:path>
            </a:pathLst>
          </a:custGeom>
          <a:solidFill>
            <a:srgbClr val="ffffff"/>
          </a:solidFill>
          <a:ln w="12600">
            <a:solidFill>
              <a:srgbClr val="e3e8f0"/>
            </a:solidFill>
            <a:round/>
          </a:ln>
        </p:spPr>
        <p:txBody>
          <a:bodyPr lIns="96120" rIns="96120" tIns="51120" bIns="5112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7" name=""/>
          <p:cNvSpPr/>
          <p:nvPr/>
        </p:nvSpPr>
        <p:spPr>
          <a:xfrm>
            <a:off x="1188720" y="2194560"/>
            <a:ext cx="411480" cy="411480"/>
          </a:xfrm>
          <a:custGeom>
            <a:avLst/>
            <a:gdLst/>
            <a:ahLst/>
            <a:rect l="0" t="0" r="r" b="b"/>
            <a:pathLst>
              <a:path w="1143" h="1143">
                <a:moveTo>
                  <a:pt x="976" y="167"/>
                </a:moveTo>
                <a:cubicBezTo>
                  <a:pt x="1199" y="390"/>
                  <a:pt x="1199" y="753"/>
                  <a:pt x="976" y="976"/>
                </a:cubicBezTo>
                <a:cubicBezTo>
                  <a:pt x="753" y="1199"/>
                  <a:pt x="390" y="1199"/>
                  <a:pt x="167" y="976"/>
                </a:cubicBezTo>
                <a:cubicBezTo>
                  <a:pt x="-55" y="753"/>
                  <a:pt x="-55" y="390"/>
                  <a:pt x="167" y="167"/>
                </a:cubicBezTo>
                <a:cubicBezTo>
                  <a:pt x="390" y="-55"/>
                  <a:pt x="753" y="-55"/>
                  <a:pt x="976" y="167"/>
                </a:cubicBezTo>
                <a:close/>
              </a:path>
            </a:pathLst>
          </a:custGeom>
          <a:solidFill>
            <a:srgbClr val="018090"/>
          </a:solidFill>
          <a:ln w="0">
            <a:noFill/>
          </a:ln>
        </p:spPr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8" name=""/>
          <p:cNvSpPr txBox="1"/>
          <p:nvPr/>
        </p:nvSpPr>
        <p:spPr>
          <a:xfrm>
            <a:off x="1188720" y="2194560"/>
            <a:ext cx="411480" cy="411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ctr"/>
            <a:r>
              <a:rPr b="1" lang="en-US" sz="1400" spc="-1" strike="noStrike">
                <a:solidFill>
                  <a:srgbClr val="ffffff"/>
                </a:solidFill>
                <a:latin typeface="Calibri-Bold"/>
                <a:ea typeface="Calibri-Bold"/>
              </a:rPr>
              <a:t>1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9" name=""/>
          <p:cNvSpPr txBox="1"/>
          <p:nvPr/>
        </p:nvSpPr>
        <p:spPr>
          <a:xfrm>
            <a:off x="621720" y="2743200"/>
            <a:ext cx="1545480" cy="822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ctr"/>
            <a:r>
              <a:rPr b="0" lang="en-US" sz="1100" spc="-1" strike="noStrike">
                <a:solidFill>
                  <a:srgbClr val="212b3c"/>
                </a:solidFill>
                <a:latin typeface="Calibri"/>
                <a:ea typeface="Calibri"/>
              </a:rPr>
              <a:t>Log in GitHub Issues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0" name=""/>
          <p:cNvSpPr txBox="1"/>
          <p:nvPr/>
        </p:nvSpPr>
        <p:spPr>
          <a:xfrm>
            <a:off x="2240280" y="2514600"/>
            <a:ext cx="146160" cy="3657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ctr"/>
            <a:r>
              <a:rPr b="0" lang="en-US" sz="1600" spc="-1" strike="noStrike">
                <a:solidFill>
                  <a:srgbClr val="6a7586"/>
                </a:solidFill>
                <a:latin typeface="Calibri"/>
                <a:ea typeface="Calibri"/>
              </a:rPr>
              <a:t>→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1" name=""/>
          <p:cNvSpPr/>
          <p:nvPr/>
        </p:nvSpPr>
        <p:spPr>
          <a:xfrm>
            <a:off x="2386440" y="2011680"/>
            <a:ext cx="1692000" cy="1646280"/>
          </a:xfrm>
          <a:custGeom>
            <a:avLst/>
            <a:gdLst/>
            <a:ahLst/>
            <a:rect l="0" t="0" r="r" b="b"/>
            <a:pathLst>
              <a:path w="4700" h="4573">
                <a:moveTo>
                  <a:pt x="4497" y="0"/>
                </a:moveTo>
                <a:cubicBezTo>
                  <a:pt x="4632" y="0"/>
                  <a:pt x="4700" y="68"/>
                  <a:pt x="4700" y="203"/>
                </a:cubicBezTo>
                <a:lnTo>
                  <a:pt x="4700" y="4369"/>
                </a:lnTo>
                <a:cubicBezTo>
                  <a:pt x="4700" y="4505"/>
                  <a:pt x="4632" y="4573"/>
                  <a:pt x="4497" y="4573"/>
                </a:cubicBezTo>
                <a:lnTo>
                  <a:pt x="203" y="4573"/>
                </a:lnTo>
                <a:cubicBezTo>
                  <a:pt x="68" y="4573"/>
                  <a:pt x="0" y="4505"/>
                  <a:pt x="0" y="4369"/>
                </a:cubicBezTo>
                <a:lnTo>
                  <a:pt x="0" y="203"/>
                </a:lnTo>
                <a:cubicBezTo>
                  <a:pt x="0" y="68"/>
                  <a:pt x="68" y="0"/>
                  <a:pt x="203" y="0"/>
                </a:cubicBezTo>
                <a:lnTo>
                  <a:pt x="4497" y="0"/>
                </a:lnTo>
                <a:close/>
              </a:path>
            </a:pathLst>
          </a:custGeom>
          <a:solidFill>
            <a:srgbClr val="ffffff"/>
          </a:solidFill>
          <a:ln w="12600">
            <a:solidFill>
              <a:srgbClr val="e3e8f0"/>
            </a:solidFill>
            <a:round/>
          </a:ln>
        </p:spPr>
        <p:txBody>
          <a:bodyPr lIns="96120" rIns="96120" tIns="51120" bIns="5112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2" name=""/>
          <p:cNvSpPr/>
          <p:nvPr/>
        </p:nvSpPr>
        <p:spPr>
          <a:xfrm>
            <a:off x="3026520" y="2194560"/>
            <a:ext cx="411480" cy="411480"/>
          </a:xfrm>
          <a:custGeom>
            <a:avLst/>
            <a:gdLst/>
            <a:ahLst/>
            <a:rect l="0" t="0" r="r" b="b"/>
            <a:pathLst>
              <a:path w="1143" h="1143">
                <a:moveTo>
                  <a:pt x="976" y="167"/>
                </a:moveTo>
                <a:cubicBezTo>
                  <a:pt x="1199" y="390"/>
                  <a:pt x="1199" y="753"/>
                  <a:pt x="976" y="976"/>
                </a:cubicBezTo>
                <a:cubicBezTo>
                  <a:pt x="753" y="1199"/>
                  <a:pt x="390" y="1199"/>
                  <a:pt x="167" y="976"/>
                </a:cubicBezTo>
                <a:cubicBezTo>
                  <a:pt x="-55" y="753"/>
                  <a:pt x="-55" y="390"/>
                  <a:pt x="167" y="167"/>
                </a:cubicBezTo>
                <a:cubicBezTo>
                  <a:pt x="390" y="-55"/>
                  <a:pt x="753" y="-55"/>
                  <a:pt x="976" y="167"/>
                </a:cubicBezTo>
                <a:close/>
              </a:path>
            </a:pathLst>
          </a:custGeom>
          <a:solidFill>
            <a:srgbClr val="018090"/>
          </a:solidFill>
          <a:ln w="0">
            <a:noFill/>
          </a:ln>
        </p:spPr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3" name=""/>
          <p:cNvSpPr txBox="1"/>
          <p:nvPr/>
        </p:nvSpPr>
        <p:spPr>
          <a:xfrm>
            <a:off x="3026520" y="2194560"/>
            <a:ext cx="411480" cy="411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ctr"/>
            <a:r>
              <a:rPr b="1" lang="en-US" sz="1400" spc="-1" strike="noStrike">
                <a:solidFill>
                  <a:srgbClr val="ffffff"/>
                </a:solidFill>
                <a:latin typeface="Calibri-Bold"/>
                <a:ea typeface="Calibri-Bold"/>
              </a:rPr>
              <a:t>2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4" name=""/>
          <p:cNvSpPr txBox="1"/>
          <p:nvPr/>
        </p:nvSpPr>
        <p:spPr>
          <a:xfrm>
            <a:off x="2459880" y="2743200"/>
            <a:ext cx="1545480" cy="822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ctr"/>
            <a:r>
              <a:rPr b="0" lang="en-US" sz="1100" spc="-1" strike="noStrike">
                <a:solidFill>
                  <a:srgbClr val="212b3c"/>
                </a:solidFill>
                <a:latin typeface="Calibri"/>
                <a:ea typeface="Calibri"/>
              </a:rPr>
              <a:t>Label by feature &amp; severity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5" name=""/>
          <p:cNvSpPr txBox="1"/>
          <p:nvPr/>
        </p:nvSpPr>
        <p:spPr>
          <a:xfrm>
            <a:off x="4078080" y="2514600"/>
            <a:ext cx="146160" cy="3657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ctr"/>
            <a:r>
              <a:rPr b="0" lang="en-US" sz="1600" spc="-1" strike="noStrike">
                <a:solidFill>
                  <a:srgbClr val="6a7586"/>
                </a:solidFill>
                <a:latin typeface="Calibri"/>
                <a:ea typeface="Calibri"/>
              </a:rPr>
              <a:t>→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6" name=""/>
          <p:cNvSpPr/>
          <p:nvPr/>
        </p:nvSpPr>
        <p:spPr>
          <a:xfrm>
            <a:off x="4224600" y="2011680"/>
            <a:ext cx="1692000" cy="1646280"/>
          </a:xfrm>
          <a:custGeom>
            <a:avLst/>
            <a:gdLst/>
            <a:ahLst/>
            <a:rect l="0" t="0" r="r" b="b"/>
            <a:pathLst>
              <a:path w="4700" h="4573">
                <a:moveTo>
                  <a:pt x="4497" y="0"/>
                </a:moveTo>
                <a:cubicBezTo>
                  <a:pt x="4632" y="0"/>
                  <a:pt x="4700" y="68"/>
                  <a:pt x="4700" y="203"/>
                </a:cubicBezTo>
                <a:lnTo>
                  <a:pt x="4700" y="4369"/>
                </a:lnTo>
                <a:cubicBezTo>
                  <a:pt x="4700" y="4505"/>
                  <a:pt x="4632" y="4573"/>
                  <a:pt x="4497" y="4573"/>
                </a:cubicBezTo>
                <a:lnTo>
                  <a:pt x="203" y="4573"/>
                </a:lnTo>
                <a:cubicBezTo>
                  <a:pt x="68" y="4573"/>
                  <a:pt x="0" y="4505"/>
                  <a:pt x="0" y="4369"/>
                </a:cubicBezTo>
                <a:lnTo>
                  <a:pt x="0" y="203"/>
                </a:lnTo>
                <a:cubicBezTo>
                  <a:pt x="0" y="68"/>
                  <a:pt x="68" y="0"/>
                  <a:pt x="203" y="0"/>
                </a:cubicBezTo>
                <a:lnTo>
                  <a:pt x="4497" y="0"/>
                </a:lnTo>
                <a:close/>
              </a:path>
            </a:pathLst>
          </a:custGeom>
          <a:solidFill>
            <a:srgbClr val="ffffff"/>
          </a:solidFill>
          <a:ln w="12600">
            <a:solidFill>
              <a:srgbClr val="e3e8f0"/>
            </a:solidFill>
            <a:round/>
          </a:ln>
        </p:spPr>
        <p:txBody>
          <a:bodyPr lIns="96120" rIns="96120" tIns="51120" bIns="5112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7" name=""/>
          <p:cNvSpPr/>
          <p:nvPr/>
        </p:nvSpPr>
        <p:spPr>
          <a:xfrm>
            <a:off x="4864680" y="2194560"/>
            <a:ext cx="411480" cy="411480"/>
          </a:xfrm>
          <a:custGeom>
            <a:avLst/>
            <a:gdLst/>
            <a:ahLst/>
            <a:rect l="0" t="0" r="r" b="b"/>
            <a:pathLst>
              <a:path w="1143" h="1143">
                <a:moveTo>
                  <a:pt x="976" y="167"/>
                </a:moveTo>
                <a:cubicBezTo>
                  <a:pt x="1199" y="390"/>
                  <a:pt x="1199" y="753"/>
                  <a:pt x="976" y="976"/>
                </a:cubicBezTo>
                <a:cubicBezTo>
                  <a:pt x="753" y="1199"/>
                  <a:pt x="390" y="1199"/>
                  <a:pt x="167" y="976"/>
                </a:cubicBezTo>
                <a:cubicBezTo>
                  <a:pt x="-55" y="753"/>
                  <a:pt x="-55" y="390"/>
                  <a:pt x="167" y="167"/>
                </a:cubicBezTo>
                <a:cubicBezTo>
                  <a:pt x="390" y="-55"/>
                  <a:pt x="753" y="-55"/>
                  <a:pt x="976" y="167"/>
                </a:cubicBezTo>
                <a:close/>
              </a:path>
            </a:pathLst>
          </a:custGeom>
          <a:solidFill>
            <a:srgbClr val="018090"/>
          </a:solidFill>
          <a:ln w="0">
            <a:noFill/>
          </a:ln>
        </p:spPr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8" name=""/>
          <p:cNvSpPr txBox="1"/>
          <p:nvPr/>
        </p:nvSpPr>
        <p:spPr>
          <a:xfrm>
            <a:off x="4864680" y="2194560"/>
            <a:ext cx="411480" cy="411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ctr"/>
            <a:r>
              <a:rPr b="1" lang="en-US" sz="1400" spc="-1" strike="noStrike">
                <a:solidFill>
                  <a:srgbClr val="ffffff"/>
                </a:solidFill>
                <a:latin typeface="Calibri-Bold"/>
                <a:ea typeface="Calibri-Bold"/>
              </a:rPr>
              <a:t>3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9" name=""/>
          <p:cNvSpPr txBox="1"/>
          <p:nvPr/>
        </p:nvSpPr>
        <p:spPr>
          <a:xfrm>
            <a:off x="4297680" y="2743200"/>
            <a:ext cx="1545480" cy="822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ctr"/>
            <a:r>
              <a:rPr b="0" lang="en-US" sz="1100" spc="-1" strike="noStrike">
                <a:solidFill>
                  <a:srgbClr val="212b3c"/>
                </a:solidFill>
                <a:latin typeface="Calibri"/>
                <a:ea typeface="Calibri"/>
              </a:rPr>
              <a:t>Assign to owner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0" name=""/>
          <p:cNvSpPr txBox="1"/>
          <p:nvPr/>
        </p:nvSpPr>
        <p:spPr>
          <a:xfrm>
            <a:off x="5916240" y="2514600"/>
            <a:ext cx="146160" cy="3657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ctr"/>
            <a:r>
              <a:rPr b="0" lang="en-US" sz="1600" spc="-1" strike="noStrike">
                <a:solidFill>
                  <a:srgbClr val="6a7586"/>
                </a:solidFill>
                <a:latin typeface="Calibri"/>
                <a:ea typeface="Calibri"/>
              </a:rPr>
              <a:t>→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1" name=""/>
          <p:cNvSpPr/>
          <p:nvPr/>
        </p:nvSpPr>
        <p:spPr>
          <a:xfrm>
            <a:off x="6062400" y="2011680"/>
            <a:ext cx="1692000" cy="1646280"/>
          </a:xfrm>
          <a:custGeom>
            <a:avLst/>
            <a:gdLst/>
            <a:ahLst/>
            <a:rect l="0" t="0" r="r" b="b"/>
            <a:pathLst>
              <a:path w="4700" h="4573">
                <a:moveTo>
                  <a:pt x="4497" y="0"/>
                </a:moveTo>
                <a:cubicBezTo>
                  <a:pt x="4632" y="0"/>
                  <a:pt x="4700" y="68"/>
                  <a:pt x="4700" y="203"/>
                </a:cubicBezTo>
                <a:lnTo>
                  <a:pt x="4700" y="4369"/>
                </a:lnTo>
                <a:cubicBezTo>
                  <a:pt x="4700" y="4505"/>
                  <a:pt x="4632" y="4573"/>
                  <a:pt x="4497" y="4573"/>
                </a:cubicBezTo>
                <a:lnTo>
                  <a:pt x="203" y="4573"/>
                </a:lnTo>
                <a:cubicBezTo>
                  <a:pt x="68" y="4573"/>
                  <a:pt x="0" y="4505"/>
                  <a:pt x="0" y="4369"/>
                </a:cubicBezTo>
                <a:lnTo>
                  <a:pt x="0" y="203"/>
                </a:lnTo>
                <a:cubicBezTo>
                  <a:pt x="0" y="68"/>
                  <a:pt x="68" y="0"/>
                  <a:pt x="203" y="0"/>
                </a:cubicBezTo>
                <a:lnTo>
                  <a:pt x="4497" y="0"/>
                </a:lnTo>
                <a:close/>
              </a:path>
            </a:pathLst>
          </a:custGeom>
          <a:solidFill>
            <a:srgbClr val="ffffff"/>
          </a:solidFill>
          <a:ln w="12600">
            <a:solidFill>
              <a:srgbClr val="e3e8f0"/>
            </a:solidFill>
            <a:round/>
          </a:ln>
        </p:spPr>
        <p:txBody>
          <a:bodyPr lIns="96120" rIns="96120" tIns="51120" bIns="5112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2" name=""/>
          <p:cNvSpPr/>
          <p:nvPr/>
        </p:nvSpPr>
        <p:spPr>
          <a:xfrm>
            <a:off x="6702480" y="2194560"/>
            <a:ext cx="411480" cy="411480"/>
          </a:xfrm>
          <a:custGeom>
            <a:avLst/>
            <a:gdLst/>
            <a:ahLst/>
            <a:rect l="0" t="0" r="r" b="b"/>
            <a:pathLst>
              <a:path w="1143" h="1143">
                <a:moveTo>
                  <a:pt x="976" y="167"/>
                </a:moveTo>
                <a:cubicBezTo>
                  <a:pt x="1199" y="390"/>
                  <a:pt x="1199" y="753"/>
                  <a:pt x="976" y="976"/>
                </a:cubicBezTo>
                <a:cubicBezTo>
                  <a:pt x="753" y="1199"/>
                  <a:pt x="390" y="1199"/>
                  <a:pt x="167" y="976"/>
                </a:cubicBezTo>
                <a:cubicBezTo>
                  <a:pt x="-55" y="753"/>
                  <a:pt x="-55" y="390"/>
                  <a:pt x="167" y="167"/>
                </a:cubicBezTo>
                <a:cubicBezTo>
                  <a:pt x="390" y="-55"/>
                  <a:pt x="753" y="-55"/>
                  <a:pt x="976" y="167"/>
                </a:cubicBezTo>
                <a:close/>
              </a:path>
            </a:pathLst>
          </a:custGeom>
          <a:solidFill>
            <a:srgbClr val="018090"/>
          </a:solidFill>
          <a:ln w="0">
            <a:noFill/>
          </a:ln>
        </p:spPr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3" name=""/>
          <p:cNvSpPr txBox="1"/>
          <p:nvPr/>
        </p:nvSpPr>
        <p:spPr>
          <a:xfrm>
            <a:off x="6702480" y="2194560"/>
            <a:ext cx="411480" cy="411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ctr"/>
            <a:r>
              <a:rPr b="1" lang="en-US" sz="1400" spc="-1" strike="noStrike">
                <a:solidFill>
                  <a:srgbClr val="ffffff"/>
                </a:solidFill>
                <a:latin typeface="Calibri-Bold"/>
                <a:ea typeface="Calibri-Bold"/>
              </a:rPr>
              <a:t>4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4" name=""/>
          <p:cNvSpPr txBox="1"/>
          <p:nvPr/>
        </p:nvSpPr>
        <p:spPr>
          <a:xfrm>
            <a:off x="6135480" y="2743200"/>
            <a:ext cx="1545480" cy="822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ctr"/>
            <a:r>
              <a:rPr b="0" lang="en-US" sz="1100" spc="-1" strike="noStrike">
                <a:solidFill>
                  <a:srgbClr val="212b3c"/>
                </a:solidFill>
                <a:latin typeface="Calibri"/>
                <a:ea typeface="Calibri"/>
              </a:rPr>
              <a:t>Fix &amp; merge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5" name=""/>
          <p:cNvSpPr txBox="1"/>
          <p:nvPr/>
        </p:nvSpPr>
        <p:spPr>
          <a:xfrm>
            <a:off x="7754040" y="2514600"/>
            <a:ext cx="146160" cy="3657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ctr"/>
            <a:r>
              <a:rPr b="0" lang="en-US" sz="1600" spc="-1" strike="noStrike">
                <a:solidFill>
                  <a:srgbClr val="6a7586"/>
                </a:solidFill>
                <a:latin typeface="Calibri"/>
                <a:ea typeface="Calibri"/>
              </a:rPr>
              <a:t>→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6" name=""/>
          <p:cNvSpPr/>
          <p:nvPr/>
        </p:nvSpPr>
        <p:spPr>
          <a:xfrm>
            <a:off x="7900560" y="2011680"/>
            <a:ext cx="1692000" cy="1646280"/>
          </a:xfrm>
          <a:custGeom>
            <a:avLst/>
            <a:gdLst/>
            <a:ahLst/>
            <a:rect l="0" t="0" r="r" b="b"/>
            <a:pathLst>
              <a:path w="4700" h="4573">
                <a:moveTo>
                  <a:pt x="4497" y="0"/>
                </a:moveTo>
                <a:cubicBezTo>
                  <a:pt x="4632" y="0"/>
                  <a:pt x="4700" y="68"/>
                  <a:pt x="4700" y="203"/>
                </a:cubicBezTo>
                <a:lnTo>
                  <a:pt x="4700" y="4369"/>
                </a:lnTo>
                <a:cubicBezTo>
                  <a:pt x="4700" y="4505"/>
                  <a:pt x="4632" y="4573"/>
                  <a:pt x="4497" y="4573"/>
                </a:cubicBezTo>
                <a:lnTo>
                  <a:pt x="203" y="4573"/>
                </a:lnTo>
                <a:cubicBezTo>
                  <a:pt x="68" y="4573"/>
                  <a:pt x="0" y="4505"/>
                  <a:pt x="0" y="4369"/>
                </a:cubicBezTo>
                <a:lnTo>
                  <a:pt x="0" y="203"/>
                </a:lnTo>
                <a:cubicBezTo>
                  <a:pt x="0" y="68"/>
                  <a:pt x="68" y="0"/>
                  <a:pt x="203" y="0"/>
                </a:cubicBezTo>
                <a:lnTo>
                  <a:pt x="4497" y="0"/>
                </a:lnTo>
                <a:close/>
              </a:path>
            </a:pathLst>
          </a:custGeom>
          <a:solidFill>
            <a:srgbClr val="ffffff"/>
          </a:solidFill>
          <a:ln w="12600">
            <a:solidFill>
              <a:srgbClr val="e3e8f0"/>
            </a:solidFill>
            <a:round/>
          </a:ln>
        </p:spPr>
        <p:txBody>
          <a:bodyPr lIns="96120" rIns="96120" tIns="51120" bIns="5112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7" name=""/>
          <p:cNvSpPr/>
          <p:nvPr/>
        </p:nvSpPr>
        <p:spPr>
          <a:xfrm>
            <a:off x="8540640" y="2194560"/>
            <a:ext cx="411480" cy="411480"/>
          </a:xfrm>
          <a:custGeom>
            <a:avLst/>
            <a:gdLst/>
            <a:ahLst/>
            <a:rect l="0" t="0" r="r" b="b"/>
            <a:pathLst>
              <a:path w="1143" h="1143">
                <a:moveTo>
                  <a:pt x="976" y="167"/>
                </a:moveTo>
                <a:cubicBezTo>
                  <a:pt x="1199" y="390"/>
                  <a:pt x="1199" y="753"/>
                  <a:pt x="976" y="976"/>
                </a:cubicBezTo>
                <a:cubicBezTo>
                  <a:pt x="753" y="1199"/>
                  <a:pt x="390" y="1199"/>
                  <a:pt x="167" y="976"/>
                </a:cubicBezTo>
                <a:cubicBezTo>
                  <a:pt x="-55" y="753"/>
                  <a:pt x="-55" y="390"/>
                  <a:pt x="167" y="167"/>
                </a:cubicBezTo>
                <a:cubicBezTo>
                  <a:pt x="390" y="-55"/>
                  <a:pt x="753" y="-55"/>
                  <a:pt x="976" y="167"/>
                </a:cubicBezTo>
                <a:close/>
              </a:path>
            </a:pathLst>
          </a:custGeom>
          <a:solidFill>
            <a:srgbClr val="018090"/>
          </a:solidFill>
          <a:ln w="0">
            <a:noFill/>
          </a:ln>
        </p:spPr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8" name=""/>
          <p:cNvSpPr txBox="1"/>
          <p:nvPr/>
        </p:nvSpPr>
        <p:spPr>
          <a:xfrm>
            <a:off x="8540640" y="2194560"/>
            <a:ext cx="411480" cy="411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ctr"/>
            <a:r>
              <a:rPr b="1" lang="en-US" sz="1400" spc="-1" strike="noStrike">
                <a:solidFill>
                  <a:srgbClr val="ffffff"/>
                </a:solidFill>
                <a:latin typeface="Calibri-Bold"/>
                <a:ea typeface="Calibri-Bold"/>
              </a:rPr>
              <a:t>5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9" name=""/>
          <p:cNvSpPr txBox="1"/>
          <p:nvPr/>
        </p:nvSpPr>
        <p:spPr>
          <a:xfrm>
            <a:off x="7973640" y="2743200"/>
            <a:ext cx="1545480" cy="822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ctr"/>
            <a:r>
              <a:rPr b="0" lang="en-US" sz="1100" spc="-1" strike="noStrike">
                <a:solidFill>
                  <a:srgbClr val="212b3c"/>
                </a:solidFill>
                <a:latin typeface="Calibri"/>
                <a:ea typeface="Calibri"/>
              </a:rPr>
              <a:t>QA re-tests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0" name=""/>
          <p:cNvSpPr txBox="1"/>
          <p:nvPr/>
        </p:nvSpPr>
        <p:spPr>
          <a:xfrm>
            <a:off x="9592200" y="2514600"/>
            <a:ext cx="146160" cy="3657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ctr"/>
            <a:r>
              <a:rPr b="0" lang="en-US" sz="1600" spc="-1" strike="noStrike">
                <a:solidFill>
                  <a:srgbClr val="6a7586"/>
                </a:solidFill>
                <a:latin typeface="Calibri"/>
                <a:ea typeface="Calibri"/>
              </a:rPr>
              <a:t>→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1" name=""/>
          <p:cNvSpPr/>
          <p:nvPr/>
        </p:nvSpPr>
        <p:spPr>
          <a:xfrm>
            <a:off x="9738360" y="2011680"/>
            <a:ext cx="1692000" cy="1646280"/>
          </a:xfrm>
          <a:custGeom>
            <a:avLst/>
            <a:gdLst/>
            <a:ahLst/>
            <a:rect l="0" t="0" r="r" b="b"/>
            <a:pathLst>
              <a:path w="4700" h="4573">
                <a:moveTo>
                  <a:pt x="4497" y="0"/>
                </a:moveTo>
                <a:cubicBezTo>
                  <a:pt x="4632" y="0"/>
                  <a:pt x="4700" y="68"/>
                  <a:pt x="4700" y="203"/>
                </a:cubicBezTo>
                <a:lnTo>
                  <a:pt x="4700" y="4369"/>
                </a:lnTo>
                <a:cubicBezTo>
                  <a:pt x="4700" y="4505"/>
                  <a:pt x="4632" y="4573"/>
                  <a:pt x="4497" y="4573"/>
                </a:cubicBezTo>
                <a:lnTo>
                  <a:pt x="203" y="4573"/>
                </a:lnTo>
                <a:cubicBezTo>
                  <a:pt x="68" y="4573"/>
                  <a:pt x="0" y="4505"/>
                  <a:pt x="0" y="4369"/>
                </a:cubicBezTo>
                <a:lnTo>
                  <a:pt x="0" y="203"/>
                </a:lnTo>
                <a:cubicBezTo>
                  <a:pt x="0" y="68"/>
                  <a:pt x="68" y="0"/>
                  <a:pt x="203" y="0"/>
                </a:cubicBezTo>
                <a:lnTo>
                  <a:pt x="4497" y="0"/>
                </a:lnTo>
                <a:close/>
              </a:path>
            </a:pathLst>
          </a:custGeom>
          <a:solidFill>
            <a:srgbClr val="01c39a"/>
          </a:solidFill>
          <a:ln w="12600">
            <a:solidFill>
              <a:srgbClr val="e3e8f0"/>
            </a:solidFill>
            <a:round/>
          </a:ln>
        </p:spPr>
        <p:txBody>
          <a:bodyPr lIns="96120" rIns="96120" tIns="51120" bIns="5112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2" name=""/>
          <p:cNvSpPr/>
          <p:nvPr/>
        </p:nvSpPr>
        <p:spPr>
          <a:xfrm>
            <a:off x="10378440" y="2194560"/>
            <a:ext cx="411480" cy="411480"/>
          </a:xfrm>
          <a:custGeom>
            <a:avLst/>
            <a:gdLst/>
            <a:ahLst/>
            <a:rect l="0" t="0" r="r" b="b"/>
            <a:pathLst>
              <a:path w="1143" h="1143">
                <a:moveTo>
                  <a:pt x="976" y="167"/>
                </a:moveTo>
                <a:cubicBezTo>
                  <a:pt x="1199" y="390"/>
                  <a:pt x="1199" y="753"/>
                  <a:pt x="976" y="976"/>
                </a:cubicBezTo>
                <a:cubicBezTo>
                  <a:pt x="753" y="1199"/>
                  <a:pt x="390" y="1199"/>
                  <a:pt x="167" y="976"/>
                </a:cubicBezTo>
                <a:cubicBezTo>
                  <a:pt x="-55" y="753"/>
                  <a:pt x="-55" y="390"/>
                  <a:pt x="167" y="167"/>
                </a:cubicBezTo>
                <a:cubicBezTo>
                  <a:pt x="390" y="-55"/>
                  <a:pt x="753" y="-55"/>
                  <a:pt x="976" y="167"/>
                </a:cubicBezTo>
                <a:close/>
              </a:path>
            </a:pathLst>
          </a:custGeom>
          <a:solidFill>
            <a:srgbClr val="1d2660"/>
          </a:solidFill>
          <a:ln w="0">
            <a:noFill/>
          </a:ln>
        </p:spPr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3" name=""/>
          <p:cNvSpPr txBox="1"/>
          <p:nvPr/>
        </p:nvSpPr>
        <p:spPr>
          <a:xfrm>
            <a:off x="10378440" y="2194560"/>
            <a:ext cx="411480" cy="411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ctr"/>
            <a:r>
              <a:rPr b="1" lang="en-US" sz="1400" spc="-1" strike="noStrike">
                <a:solidFill>
                  <a:srgbClr val="ffffff"/>
                </a:solidFill>
                <a:latin typeface="Calibri-Bold"/>
                <a:ea typeface="Calibri-Bold"/>
              </a:rPr>
              <a:t>6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4" name=""/>
          <p:cNvSpPr txBox="1"/>
          <p:nvPr/>
        </p:nvSpPr>
        <p:spPr>
          <a:xfrm>
            <a:off x="9811440" y="2743200"/>
            <a:ext cx="1545480" cy="822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ctr"/>
            <a:r>
              <a:rPr b="1" lang="en-US" sz="1100" spc="-1" strike="noStrike">
                <a:solidFill>
                  <a:srgbClr val="1d2660"/>
                </a:solidFill>
                <a:latin typeface="Calibri-Bold"/>
                <a:ea typeface="Calibri-Bold"/>
              </a:rPr>
              <a:t>Close issue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5" name=""/>
          <p:cNvSpPr txBox="1"/>
          <p:nvPr/>
        </p:nvSpPr>
        <p:spPr>
          <a:xfrm>
            <a:off x="548640" y="4206240"/>
            <a:ext cx="10515600" cy="5486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i="1" lang="en-US" sz="1300" spc="-1" strike="noStrike">
                <a:solidFill>
                  <a:srgbClr val="6a7586"/>
                </a:solidFill>
                <a:latin typeface="Calibri-Italic"/>
                <a:ea typeface="Calibri-Italic"/>
              </a:rPr>
              <a:t>Critical or High-severity defects block a milestone demo until resolved or a workaround is agreed with the team.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6" name=""/>
          <p:cNvSpPr txBox="1"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000" spc="-1" strike="noStrike">
                <a:solidFill>
                  <a:srgbClr val="6a7586"/>
                </a:solidFill>
                <a:latin typeface="Calibri"/>
                <a:ea typeface="Calibri"/>
              </a:rPr>
              <a:t>CampusAI — QA &amp; Testing Plan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7" name=""/>
          <p:cNvSpPr txBox="1"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r"/>
            <a:r>
              <a:rPr b="0" lang="en-US" sz="1000" spc="-1" strike="noStrike">
                <a:solidFill>
                  <a:srgbClr val="6a7586"/>
                </a:solidFill>
                <a:latin typeface="Calibri"/>
                <a:ea typeface="Calibri"/>
              </a:rPr>
              <a:t>8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"/>
          <p:cNvSpPr txBox="1"/>
          <p:nvPr/>
        </p:nvSpPr>
        <p:spPr>
          <a:xfrm>
            <a:off x="548640" y="411480"/>
            <a:ext cx="9144000" cy="5486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3000" spc="-1" strike="noStrike">
                <a:solidFill>
                  <a:srgbClr val="1d2660"/>
                </a:solidFill>
                <a:latin typeface="Cambria"/>
                <a:ea typeface="Cambria"/>
              </a:rPr>
              <a:t>Demo Readiness Checklist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9" name=""/>
          <p:cNvSpPr/>
          <p:nvPr/>
        </p:nvSpPr>
        <p:spPr>
          <a:xfrm>
            <a:off x="548640" y="1508760"/>
            <a:ext cx="320400" cy="320400"/>
          </a:xfrm>
          <a:custGeom>
            <a:avLst/>
            <a:gdLst/>
            <a:ahLst/>
            <a:rect l="0" t="0" r="r" b="b"/>
            <a:pathLst>
              <a:path w="890" h="890">
                <a:moveTo>
                  <a:pt x="737" y="0"/>
                </a:moveTo>
                <a:cubicBezTo>
                  <a:pt x="839" y="0"/>
                  <a:pt x="890" y="51"/>
                  <a:pt x="890" y="152"/>
                </a:cubicBezTo>
                <a:lnTo>
                  <a:pt x="890" y="737"/>
                </a:lnTo>
                <a:cubicBezTo>
                  <a:pt x="890" y="839"/>
                  <a:pt x="839" y="890"/>
                  <a:pt x="737" y="890"/>
                </a:cubicBezTo>
                <a:lnTo>
                  <a:pt x="152" y="890"/>
                </a:lnTo>
                <a:cubicBezTo>
                  <a:pt x="51" y="890"/>
                  <a:pt x="0" y="839"/>
                  <a:pt x="0" y="737"/>
                </a:cubicBezTo>
                <a:lnTo>
                  <a:pt x="0" y="152"/>
                </a:lnTo>
                <a:cubicBezTo>
                  <a:pt x="0" y="51"/>
                  <a:pt x="51" y="0"/>
                  <a:pt x="152" y="0"/>
                </a:cubicBezTo>
                <a:lnTo>
                  <a:pt x="737" y="0"/>
                </a:lnTo>
                <a:close/>
              </a:path>
            </a:pathLst>
          </a:custGeom>
          <a:solidFill>
            <a:srgbClr val="01c39a"/>
          </a:solidFill>
          <a:ln w="0">
            <a:noFill/>
          </a:ln>
        </p:spPr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0" name=""/>
          <p:cNvSpPr txBox="1"/>
          <p:nvPr/>
        </p:nvSpPr>
        <p:spPr>
          <a:xfrm>
            <a:off x="548640" y="1508760"/>
            <a:ext cx="320040" cy="325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ctr"/>
            <a:r>
              <a:rPr b="1" lang="en-US" sz="1600" spc="-1" strike="noStrike">
                <a:solidFill>
                  <a:srgbClr val="ffffff"/>
                </a:solidFill>
                <a:latin typeface="Calibri-Bold"/>
                <a:ea typeface="Calibri-Bold"/>
              </a:rPr>
              <a:t>✓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1" name=""/>
          <p:cNvSpPr txBox="1"/>
          <p:nvPr/>
        </p:nvSpPr>
        <p:spPr>
          <a:xfrm>
            <a:off x="1005840" y="1435680"/>
            <a:ext cx="4663440" cy="5486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400" spc="-1" strike="noStrike">
                <a:solidFill>
                  <a:srgbClr val="212b3c"/>
                </a:solidFill>
                <a:latin typeface="Calibri"/>
                <a:ea typeface="Calibri"/>
              </a:rPr>
              <a:t>All High-priority test cases pass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2" name=""/>
          <p:cNvSpPr/>
          <p:nvPr/>
        </p:nvSpPr>
        <p:spPr>
          <a:xfrm>
            <a:off x="5943600" y="1508760"/>
            <a:ext cx="320400" cy="320400"/>
          </a:xfrm>
          <a:custGeom>
            <a:avLst/>
            <a:gdLst/>
            <a:ahLst/>
            <a:rect l="0" t="0" r="r" b="b"/>
            <a:pathLst>
              <a:path w="890" h="890">
                <a:moveTo>
                  <a:pt x="737" y="0"/>
                </a:moveTo>
                <a:cubicBezTo>
                  <a:pt x="839" y="0"/>
                  <a:pt x="890" y="51"/>
                  <a:pt x="890" y="152"/>
                </a:cubicBezTo>
                <a:lnTo>
                  <a:pt x="890" y="737"/>
                </a:lnTo>
                <a:cubicBezTo>
                  <a:pt x="890" y="839"/>
                  <a:pt x="839" y="890"/>
                  <a:pt x="737" y="890"/>
                </a:cubicBezTo>
                <a:lnTo>
                  <a:pt x="152" y="890"/>
                </a:lnTo>
                <a:cubicBezTo>
                  <a:pt x="51" y="890"/>
                  <a:pt x="0" y="839"/>
                  <a:pt x="0" y="737"/>
                </a:cubicBezTo>
                <a:lnTo>
                  <a:pt x="0" y="152"/>
                </a:lnTo>
                <a:cubicBezTo>
                  <a:pt x="0" y="51"/>
                  <a:pt x="51" y="0"/>
                  <a:pt x="152" y="0"/>
                </a:cubicBezTo>
                <a:lnTo>
                  <a:pt x="737" y="0"/>
                </a:lnTo>
                <a:close/>
              </a:path>
            </a:pathLst>
          </a:custGeom>
          <a:solidFill>
            <a:srgbClr val="01c39a"/>
          </a:solidFill>
          <a:ln w="0">
            <a:noFill/>
          </a:ln>
        </p:spPr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3" name=""/>
          <p:cNvSpPr txBox="1"/>
          <p:nvPr/>
        </p:nvSpPr>
        <p:spPr>
          <a:xfrm>
            <a:off x="5943600" y="1508760"/>
            <a:ext cx="320040" cy="325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ctr"/>
            <a:r>
              <a:rPr b="1" lang="en-US" sz="1600" spc="-1" strike="noStrike">
                <a:solidFill>
                  <a:srgbClr val="ffffff"/>
                </a:solidFill>
                <a:latin typeface="Calibri-Bold"/>
                <a:ea typeface="Calibri-Bold"/>
              </a:rPr>
              <a:t>✓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4" name=""/>
          <p:cNvSpPr txBox="1"/>
          <p:nvPr/>
        </p:nvSpPr>
        <p:spPr>
          <a:xfrm>
            <a:off x="6400800" y="1435680"/>
            <a:ext cx="4663440" cy="5486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400" spc="-1" strike="noStrike">
                <a:solidFill>
                  <a:srgbClr val="212b3c"/>
                </a:solidFill>
                <a:latin typeface="Calibri"/>
                <a:ea typeface="Calibri"/>
              </a:rPr>
              <a:t>No open Critical or High-severity defects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5" name=""/>
          <p:cNvSpPr/>
          <p:nvPr/>
        </p:nvSpPr>
        <p:spPr>
          <a:xfrm>
            <a:off x="548640" y="2286000"/>
            <a:ext cx="320400" cy="320400"/>
          </a:xfrm>
          <a:custGeom>
            <a:avLst/>
            <a:gdLst/>
            <a:ahLst/>
            <a:rect l="0" t="0" r="r" b="b"/>
            <a:pathLst>
              <a:path w="890" h="890">
                <a:moveTo>
                  <a:pt x="737" y="0"/>
                </a:moveTo>
                <a:cubicBezTo>
                  <a:pt x="839" y="0"/>
                  <a:pt x="890" y="51"/>
                  <a:pt x="890" y="152"/>
                </a:cubicBezTo>
                <a:lnTo>
                  <a:pt x="890" y="737"/>
                </a:lnTo>
                <a:cubicBezTo>
                  <a:pt x="890" y="839"/>
                  <a:pt x="839" y="890"/>
                  <a:pt x="737" y="890"/>
                </a:cubicBezTo>
                <a:lnTo>
                  <a:pt x="152" y="890"/>
                </a:lnTo>
                <a:cubicBezTo>
                  <a:pt x="51" y="890"/>
                  <a:pt x="0" y="839"/>
                  <a:pt x="0" y="737"/>
                </a:cubicBezTo>
                <a:lnTo>
                  <a:pt x="0" y="152"/>
                </a:lnTo>
                <a:cubicBezTo>
                  <a:pt x="0" y="51"/>
                  <a:pt x="51" y="0"/>
                  <a:pt x="152" y="0"/>
                </a:cubicBezTo>
                <a:lnTo>
                  <a:pt x="737" y="0"/>
                </a:lnTo>
                <a:close/>
              </a:path>
            </a:pathLst>
          </a:custGeom>
          <a:solidFill>
            <a:srgbClr val="01c39a"/>
          </a:solidFill>
          <a:ln w="0">
            <a:noFill/>
          </a:ln>
        </p:spPr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6" name=""/>
          <p:cNvSpPr txBox="1"/>
          <p:nvPr/>
        </p:nvSpPr>
        <p:spPr>
          <a:xfrm>
            <a:off x="548640" y="2286000"/>
            <a:ext cx="320040" cy="325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ctr"/>
            <a:r>
              <a:rPr b="1" lang="en-US" sz="1600" spc="-1" strike="noStrike">
                <a:solidFill>
                  <a:srgbClr val="ffffff"/>
                </a:solidFill>
                <a:latin typeface="Calibri-Bold"/>
                <a:ea typeface="Calibri-Bold"/>
              </a:rPr>
              <a:t>✓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7" name=""/>
          <p:cNvSpPr txBox="1"/>
          <p:nvPr/>
        </p:nvSpPr>
        <p:spPr>
          <a:xfrm>
            <a:off x="1005840" y="2212920"/>
            <a:ext cx="4663440" cy="5486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400" spc="-1" strike="noStrike">
                <a:solidFill>
                  <a:srgbClr val="212b3c"/>
                </a:solidFill>
                <a:latin typeface="Calibri"/>
                <a:ea typeface="Calibri"/>
              </a:rPr>
              <a:t>RAG answers accurate &amp; correctly cited for demo questions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8" name=""/>
          <p:cNvSpPr/>
          <p:nvPr/>
        </p:nvSpPr>
        <p:spPr>
          <a:xfrm>
            <a:off x="5943600" y="2286000"/>
            <a:ext cx="320400" cy="320400"/>
          </a:xfrm>
          <a:custGeom>
            <a:avLst/>
            <a:gdLst/>
            <a:ahLst/>
            <a:rect l="0" t="0" r="r" b="b"/>
            <a:pathLst>
              <a:path w="890" h="890">
                <a:moveTo>
                  <a:pt x="737" y="0"/>
                </a:moveTo>
                <a:cubicBezTo>
                  <a:pt x="839" y="0"/>
                  <a:pt x="890" y="51"/>
                  <a:pt x="890" y="152"/>
                </a:cubicBezTo>
                <a:lnTo>
                  <a:pt x="890" y="737"/>
                </a:lnTo>
                <a:cubicBezTo>
                  <a:pt x="890" y="839"/>
                  <a:pt x="839" y="890"/>
                  <a:pt x="737" y="890"/>
                </a:cubicBezTo>
                <a:lnTo>
                  <a:pt x="152" y="890"/>
                </a:lnTo>
                <a:cubicBezTo>
                  <a:pt x="51" y="890"/>
                  <a:pt x="0" y="839"/>
                  <a:pt x="0" y="737"/>
                </a:cubicBezTo>
                <a:lnTo>
                  <a:pt x="0" y="152"/>
                </a:lnTo>
                <a:cubicBezTo>
                  <a:pt x="0" y="51"/>
                  <a:pt x="51" y="0"/>
                  <a:pt x="152" y="0"/>
                </a:cubicBezTo>
                <a:lnTo>
                  <a:pt x="737" y="0"/>
                </a:lnTo>
                <a:close/>
              </a:path>
            </a:pathLst>
          </a:custGeom>
          <a:solidFill>
            <a:srgbClr val="01c39a"/>
          </a:solidFill>
          <a:ln w="0">
            <a:noFill/>
          </a:ln>
        </p:spPr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9" name=""/>
          <p:cNvSpPr txBox="1"/>
          <p:nvPr/>
        </p:nvSpPr>
        <p:spPr>
          <a:xfrm>
            <a:off x="5943600" y="2286000"/>
            <a:ext cx="320040" cy="325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ctr"/>
            <a:r>
              <a:rPr b="1" lang="en-US" sz="1600" spc="-1" strike="noStrike">
                <a:solidFill>
                  <a:srgbClr val="ffffff"/>
                </a:solidFill>
                <a:latin typeface="Calibri-Bold"/>
                <a:ea typeface="Calibri-Bold"/>
              </a:rPr>
              <a:t>✓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0" name=""/>
          <p:cNvSpPr txBox="1"/>
          <p:nvPr/>
        </p:nvSpPr>
        <p:spPr>
          <a:xfrm>
            <a:off x="6400800" y="2212920"/>
            <a:ext cx="4663440" cy="5486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400" spc="-1" strike="noStrike">
                <a:solidFill>
                  <a:srgbClr val="212b3c"/>
                </a:solidFill>
                <a:latin typeface="Calibri"/>
                <a:ea typeface="Calibri"/>
              </a:rPr>
              <a:t>Avatar and TTS run smoothly end-to-end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1" name=""/>
          <p:cNvSpPr/>
          <p:nvPr/>
        </p:nvSpPr>
        <p:spPr>
          <a:xfrm>
            <a:off x="548640" y="3063240"/>
            <a:ext cx="320400" cy="320400"/>
          </a:xfrm>
          <a:custGeom>
            <a:avLst/>
            <a:gdLst/>
            <a:ahLst/>
            <a:rect l="0" t="0" r="r" b="b"/>
            <a:pathLst>
              <a:path w="890" h="890">
                <a:moveTo>
                  <a:pt x="737" y="0"/>
                </a:moveTo>
                <a:cubicBezTo>
                  <a:pt x="839" y="0"/>
                  <a:pt x="890" y="51"/>
                  <a:pt x="890" y="152"/>
                </a:cubicBezTo>
                <a:lnTo>
                  <a:pt x="890" y="737"/>
                </a:lnTo>
                <a:cubicBezTo>
                  <a:pt x="890" y="839"/>
                  <a:pt x="839" y="890"/>
                  <a:pt x="737" y="890"/>
                </a:cubicBezTo>
                <a:lnTo>
                  <a:pt x="152" y="890"/>
                </a:lnTo>
                <a:cubicBezTo>
                  <a:pt x="51" y="890"/>
                  <a:pt x="0" y="839"/>
                  <a:pt x="0" y="737"/>
                </a:cubicBezTo>
                <a:lnTo>
                  <a:pt x="0" y="152"/>
                </a:lnTo>
                <a:cubicBezTo>
                  <a:pt x="0" y="51"/>
                  <a:pt x="51" y="0"/>
                  <a:pt x="152" y="0"/>
                </a:cubicBezTo>
                <a:lnTo>
                  <a:pt x="737" y="0"/>
                </a:lnTo>
                <a:close/>
              </a:path>
            </a:pathLst>
          </a:custGeom>
          <a:solidFill>
            <a:srgbClr val="01c39a"/>
          </a:solidFill>
          <a:ln w="0">
            <a:noFill/>
          </a:ln>
        </p:spPr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2" name=""/>
          <p:cNvSpPr txBox="1"/>
          <p:nvPr/>
        </p:nvSpPr>
        <p:spPr>
          <a:xfrm>
            <a:off x="548640" y="3063240"/>
            <a:ext cx="320040" cy="325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ctr"/>
            <a:r>
              <a:rPr b="1" lang="en-US" sz="1600" spc="-1" strike="noStrike">
                <a:solidFill>
                  <a:srgbClr val="ffffff"/>
                </a:solidFill>
                <a:latin typeface="Calibri-Bold"/>
                <a:ea typeface="Calibri-Bold"/>
              </a:rPr>
              <a:t>✓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3" name=""/>
          <p:cNvSpPr txBox="1"/>
          <p:nvPr/>
        </p:nvSpPr>
        <p:spPr>
          <a:xfrm>
            <a:off x="1005840" y="2990160"/>
            <a:ext cx="4663440" cy="5486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400" spc="-1" strike="noStrike">
                <a:solidFill>
                  <a:srgbClr val="212b3c"/>
                </a:solidFill>
                <a:latin typeface="Calibri"/>
                <a:ea typeface="Calibri"/>
              </a:rPr>
              <a:t>Demo script rehearsed with no errors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4" name=""/>
          <p:cNvSpPr/>
          <p:nvPr/>
        </p:nvSpPr>
        <p:spPr>
          <a:xfrm>
            <a:off x="5943600" y="3063240"/>
            <a:ext cx="320400" cy="320400"/>
          </a:xfrm>
          <a:custGeom>
            <a:avLst/>
            <a:gdLst/>
            <a:ahLst/>
            <a:rect l="0" t="0" r="r" b="b"/>
            <a:pathLst>
              <a:path w="890" h="890">
                <a:moveTo>
                  <a:pt x="737" y="0"/>
                </a:moveTo>
                <a:cubicBezTo>
                  <a:pt x="839" y="0"/>
                  <a:pt x="890" y="51"/>
                  <a:pt x="890" y="152"/>
                </a:cubicBezTo>
                <a:lnTo>
                  <a:pt x="890" y="737"/>
                </a:lnTo>
                <a:cubicBezTo>
                  <a:pt x="890" y="839"/>
                  <a:pt x="839" y="890"/>
                  <a:pt x="737" y="890"/>
                </a:cubicBezTo>
                <a:lnTo>
                  <a:pt x="152" y="890"/>
                </a:lnTo>
                <a:cubicBezTo>
                  <a:pt x="51" y="890"/>
                  <a:pt x="0" y="839"/>
                  <a:pt x="0" y="737"/>
                </a:cubicBezTo>
                <a:lnTo>
                  <a:pt x="0" y="152"/>
                </a:lnTo>
                <a:cubicBezTo>
                  <a:pt x="0" y="51"/>
                  <a:pt x="51" y="0"/>
                  <a:pt x="152" y="0"/>
                </a:cubicBezTo>
                <a:lnTo>
                  <a:pt x="737" y="0"/>
                </a:lnTo>
                <a:close/>
              </a:path>
            </a:pathLst>
          </a:custGeom>
          <a:solidFill>
            <a:srgbClr val="01c39a"/>
          </a:solidFill>
          <a:ln w="0">
            <a:noFill/>
          </a:ln>
        </p:spPr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5" name=""/>
          <p:cNvSpPr txBox="1"/>
          <p:nvPr/>
        </p:nvSpPr>
        <p:spPr>
          <a:xfrm>
            <a:off x="5943600" y="3063240"/>
            <a:ext cx="320040" cy="325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ctr"/>
            <a:r>
              <a:rPr b="1" lang="en-US" sz="1600" spc="-1" strike="noStrike">
                <a:solidFill>
                  <a:srgbClr val="ffffff"/>
                </a:solidFill>
                <a:latin typeface="Calibri-Bold"/>
                <a:ea typeface="Calibri-Bold"/>
              </a:rPr>
              <a:t>✓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6" name=""/>
          <p:cNvSpPr txBox="1"/>
          <p:nvPr/>
        </p:nvSpPr>
        <p:spPr>
          <a:xfrm>
            <a:off x="6400800" y="2990160"/>
            <a:ext cx="4663440" cy="5486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400" spc="-1" strike="noStrike">
                <a:solidFill>
                  <a:srgbClr val="212b3c"/>
                </a:solidFill>
                <a:latin typeface="Calibri"/>
                <a:ea typeface="Calibri"/>
              </a:rPr>
              <a:t>Fallback plan ready in case of live-demo issues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7" name=""/>
          <p:cNvSpPr txBox="1"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000" spc="-1" strike="noStrike">
                <a:solidFill>
                  <a:srgbClr val="6a7586"/>
                </a:solidFill>
                <a:latin typeface="Calibri"/>
                <a:ea typeface="Calibri"/>
              </a:rPr>
              <a:t>CampusAI — QA &amp; Testing Plan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8" name=""/>
          <p:cNvSpPr txBox="1"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r"/>
            <a:r>
              <a:rPr b="0" lang="en-US" sz="1000" spc="-1" strike="noStrike">
                <a:solidFill>
                  <a:srgbClr val="6a7586"/>
                </a:solidFill>
                <a:latin typeface="Calibri"/>
                <a:ea typeface="Calibri"/>
              </a:rPr>
              <a:t>9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31a4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"/>
          <p:cNvSpPr/>
          <p:nvPr/>
        </p:nvSpPr>
        <p:spPr>
          <a:xfrm>
            <a:off x="-1371600" y="-1371600"/>
            <a:ext cx="4572000" cy="4572000"/>
          </a:xfrm>
          <a:custGeom>
            <a:avLst/>
            <a:gdLst/>
            <a:ahLst/>
            <a:rect l="0" t="0" r="r" b="b"/>
            <a:pathLst>
              <a:path w="12700" h="12700">
                <a:moveTo>
                  <a:pt x="10841" y="1858"/>
                </a:moveTo>
                <a:cubicBezTo>
                  <a:pt x="13320" y="4339"/>
                  <a:pt x="13320" y="8361"/>
                  <a:pt x="10841" y="10841"/>
                </a:cubicBezTo>
                <a:cubicBezTo>
                  <a:pt x="8361" y="13320"/>
                  <a:pt x="4339" y="13320"/>
                  <a:pt x="1858" y="10841"/>
                </a:cubicBezTo>
                <a:cubicBezTo>
                  <a:pt x="-620" y="8361"/>
                  <a:pt x="-620" y="4339"/>
                  <a:pt x="1858" y="1858"/>
                </a:cubicBezTo>
                <a:cubicBezTo>
                  <a:pt x="4339" y="-620"/>
                  <a:pt x="8361" y="-620"/>
                  <a:pt x="10841" y="1858"/>
                </a:cubicBezTo>
                <a:close/>
              </a:path>
            </a:pathLst>
          </a:custGeom>
          <a:solidFill>
            <a:srgbClr val="1d2660">
              <a:alpha val="70000"/>
            </a:srgbClr>
          </a:solidFill>
          <a:ln w="0">
            <a:noFill/>
          </a:ln>
        </p:spPr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0" name=""/>
          <p:cNvSpPr/>
          <p:nvPr/>
        </p:nvSpPr>
        <p:spPr>
          <a:xfrm>
            <a:off x="9875520" y="4572000"/>
            <a:ext cx="3657600" cy="3657600"/>
          </a:xfrm>
          <a:custGeom>
            <a:avLst/>
            <a:gdLst/>
            <a:ahLst/>
            <a:rect l="0" t="0" r="r" b="b"/>
            <a:pathLst>
              <a:path w="10160" h="10160">
                <a:moveTo>
                  <a:pt x="8673" y="1487"/>
                </a:moveTo>
                <a:cubicBezTo>
                  <a:pt x="10656" y="3471"/>
                  <a:pt x="10656" y="6689"/>
                  <a:pt x="8673" y="8673"/>
                </a:cubicBezTo>
                <a:cubicBezTo>
                  <a:pt x="6689" y="10656"/>
                  <a:pt x="3471" y="10656"/>
                  <a:pt x="1487" y="8673"/>
                </a:cubicBezTo>
                <a:cubicBezTo>
                  <a:pt x="-495" y="6689"/>
                  <a:pt x="-495" y="3471"/>
                  <a:pt x="1487" y="1487"/>
                </a:cubicBezTo>
                <a:cubicBezTo>
                  <a:pt x="3471" y="-495"/>
                  <a:pt x="6689" y="-495"/>
                  <a:pt x="8673" y="1487"/>
                </a:cubicBezTo>
                <a:close/>
              </a:path>
            </a:pathLst>
          </a:custGeom>
          <a:solidFill>
            <a:srgbClr val="018090">
              <a:alpha val="40000"/>
            </a:srgbClr>
          </a:solidFill>
          <a:ln w="0">
            <a:noFill/>
          </a:ln>
        </p:spPr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1" name=""/>
          <p:cNvSpPr txBox="1"/>
          <p:nvPr/>
        </p:nvSpPr>
        <p:spPr>
          <a:xfrm>
            <a:off x="822960" y="2377440"/>
            <a:ext cx="9144000" cy="640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1500" spc="-1" strike="noStrike">
                <a:solidFill>
                  <a:srgbClr val="01c39a"/>
                </a:solidFill>
                <a:latin typeface="Calibri-Bold"/>
                <a:ea typeface="Calibri-Bold"/>
              </a:rPr>
              <a:t>Next Steps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2" name=""/>
          <p:cNvSpPr txBox="1"/>
          <p:nvPr/>
        </p:nvSpPr>
        <p:spPr>
          <a:xfrm>
            <a:off x="822960" y="2834640"/>
            <a:ext cx="9601200" cy="10058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3800" spc="-1" strike="noStrike">
                <a:solidFill>
                  <a:srgbClr val="ffffff"/>
                </a:solidFill>
                <a:latin typeface="Cambria"/>
                <a:ea typeface="Cambria"/>
              </a:rPr>
              <a:t>Let's keep CampusAI demo-ready</a:t>
            </a:r>
            <a:endParaRPr b="0" lang="en-US" sz="3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3" name=""/>
          <p:cNvSpPr txBox="1"/>
          <p:nvPr/>
        </p:nvSpPr>
        <p:spPr>
          <a:xfrm>
            <a:off x="822960" y="3840480"/>
            <a:ext cx="9144000" cy="731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500" spc="-1" strike="noStrike">
                <a:solidFill>
                  <a:srgbClr val="cadcfc"/>
                </a:solidFill>
                <a:latin typeface="Calibri"/>
                <a:ea typeface="Calibri"/>
              </a:rPr>
              <a:t>Set up GitHub Issue labels this week · start API testing as soon as /api/query lands · review this plan with the team at Meeting 3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4" name=""/>
          <p:cNvSpPr txBox="1"/>
          <p:nvPr/>
        </p:nvSpPr>
        <p:spPr>
          <a:xfrm>
            <a:off x="822960" y="6035040"/>
            <a:ext cx="7315200" cy="3657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300" spc="-1" strike="noStrike">
                <a:solidFill>
                  <a:srgbClr val="8fa0c0"/>
                </a:solidFill>
                <a:latin typeface="Calibri"/>
                <a:ea typeface="Calibri"/>
              </a:rPr>
              <a:t>Questions? — Na</a:t>
            </a:r>
            <a:r>
              <a:rPr b="0" lang="en-US" sz="1300" spc="-1" strike="noStrike">
                <a:solidFill>
                  <a:srgbClr val="8fa0c0"/>
                </a:solidFill>
                <a:latin typeface="Calibri"/>
                <a:ea typeface="Calibri"/>
              </a:rPr>
              <a:t>h</a:t>
            </a:r>
            <a:r>
              <a:rPr b="0" lang="en-US" sz="1300" spc="-1" strike="noStrike">
                <a:solidFill>
                  <a:srgbClr val="8fa0c0"/>
                </a:solidFill>
                <a:latin typeface="Calibri"/>
                <a:ea typeface="Calibri"/>
              </a:rPr>
              <a:t>irobi</a:t>
            </a:r>
            <a:r>
              <a:rPr b="0" lang="en-US" sz="1300" spc="-1" strike="noStrike">
                <a:solidFill>
                  <a:srgbClr val="8fa0c0"/>
                </a:solidFill>
                <a:latin typeface="Calibri"/>
                <a:ea typeface="Calibri"/>
              </a:rPr>
              <a:t>es</a:t>
            </a:r>
            <a:r>
              <a:rPr b="0" lang="en-US" sz="1300" spc="-1" strike="noStrike">
                <a:solidFill>
                  <a:srgbClr val="8fa0c0"/>
                </a:solidFill>
                <a:latin typeface="Calibri"/>
                <a:ea typeface="Calibri"/>
              </a:rPr>
              <a:t>, QA &amp; Presentation Lead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LibreOffice/24.2.7.2$Linux_X86_64 LibreOffice_project/420$Build-2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en-US</dc:language>
  <cp:lastModifiedBy/>
  <cp:revision>0</cp:revision>
  <dc:subject/>
  <dc:title/>
</cp:coreProperties>
</file>